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3"/>
    </p:embeddedFont>
    <p:embeddedFont>
      <p:font typeface="HK Modular" charset="1" panose="00000800000000000000"/>
      <p:regular r:id="rId14"/>
    </p:embeddedFont>
    <p:embeddedFont>
      <p:font typeface="Open Sans Bold" charset="1" panose="00000000000000000000"/>
      <p:regular r:id="rId15"/>
    </p:embeddedFont>
    <p:embeddedFont>
      <p:font typeface="Mokoto" charset="1" panose="00000000000000000000"/>
      <p:regular r:id="rId16"/>
    </p:embeddedFont>
    <p:embeddedFont>
      <p:font typeface="Arimo Bold" charset="1" panose="020B0704020202020204"/>
      <p:regular r:id="rId17"/>
    </p:embeddedFont>
    <p:embeddedFont>
      <p:font typeface="Arial Bold" charset="1" panose="020B0704020202020204"/>
      <p:regular r:id="rId18"/>
    </p:embeddedFont>
    <p:embeddedFont>
      <p:font typeface="Arimo" charset="1" panose="020B0604020202020204"/>
      <p:regular r:id="rId19"/>
    </p:embeddedFont>
    <p:embeddedFont>
      <p:font typeface="Arial" charset="1" panose="020B0604020202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50" b="1"/>
              <a:t>Cash buffer days (US firms) [5]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Cash buffer (days)</c:v>
                </c:pt>
              </c:strCache>
            </c:strRef>
          </c:tx>
          <c:spPr>
            <a:solidFill>
              <a:srgbClr val="2F6FD0"/>
            </a:solidFill>
          </c:spPr>
          <c:dPt>
            <c:idx val="0"/>
            <c:spPr>
              <a:solidFill>
                <a:srgbClr val="2F6FD0"/>
              </a:solidFill>
            </c:spPr>
          </c:dPt>
          <c:dPt>
            <c:idx val="1"/>
            <c:spPr>
              <a:solidFill>
                <a:srgbClr val="D64545"/>
              </a:solidFill>
            </c:spPr>
          </c:dPt>
          <c:cat>
            <c:strRef>
              <c:f>Sheet1!$A$2:$A$3</c:f>
              <c:strCache>
                <c:ptCount val="2"/>
                <c:pt idx="0">
                  <c:v>Median business</c:v>
                </c:pt>
                <c:pt idx="1">
                  <c:v>Bottom 25%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</c:v>
                </c:pt>
                <c:pt idx="1">
                  <c:v>13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3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A"/>
            </a:solidFill>
          </a:ln>
        </c:spPr>
        <c:txPr>
          <a:bodyPr/>
          <a:lstStyle/>
          <a:p>
            <a:pPr>
              <a:defRPr sz="13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50">
          <a:solidFill>
            <a:srgbClr val="1B1F2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50" b="1"/>
              <a:t>Health score, 90-day simulation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Health</c:v>
                </c:pt>
              </c:strCache>
            </c:strRef>
          </c:tx>
          <c:spPr>
            <a:solidFill>
              <a:srgbClr val="12A37A"/>
            </a:solidFill>
          </c:spPr>
          <c:dPt>
            <c:idx val="0"/>
            <c:spPr>
              <a:solidFill>
                <a:srgbClr val="12A37A"/>
              </a:solidFill>
            </c:spPr>
          </c:dPt>
          <c:dPt>
            <c:idx val="1"/>
            <c:spPr>
              <a:solidFill>
                <a:srgbClr val="D64545"/>
              </a:solidFill>
            </c:spPr>
          </c:dPt>
          <c:cat>
            <c:strRef>
              <c:f>Sheet1!$A$2:$A$3</c:f>
              <c:strCache>
                <c:ptCount val="2"/>
                <c:pt idx="0">
                  <c:v>With crew</c:v>
                </c:pt>
                <c:pt idx="1">
                  <c:v>Unassisted twin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</c:v>
                </c:pt>
                <c:pt idx="1">
                  <c:v>37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3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A"/>
            </a:solidFill>
          </a:ln>
        </c:spPr>
        <c:txPr>
          <a:bodyPr/>
          <a:lstStyle/>
          <a:p>
            <a:pPr>
              <a:defRPr sz="13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5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50">
          <a:solidFill>
            <a:srgbClr val="1B1F2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50" b="1"/>
              <a:t>XP earned per real action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XP</c:v>
                </c:pt>
              </c:strCache>
            </c:strRef>
          </c:tx>
          <c:spPr>
            <a:solidFill>
              <a:srgbClr val="2F6FD0"/>
            </a:solidFill>
          </c:spPr>
          <c:cat>
            <c:strRef>
              <c:f>Sheet1!$A$2:$A$7</c:f>
              <c:strCache>
                <c:ptCount val="6"/>
                <c:pt idx="0">
                  <c:v>Transaction logged</c:v>
                </c:pt>
                <c:pt idx="1">
                  <c:v>Alert resolved</c:v>
                </c:pt>
                <c:pt idx="2">
                  <c:v>Daily check-in</c:v>
                </c:pt>
                <c:pt idx="3">
                  <c:v>Paid on time</c:v>
                </c:pt>
                <c:pt idx="4">
                  <c:v>Badge unlocked</c:v>
                </c:pt>
                <c:pt idx="5">
                  <c:v>Return filed on time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10</c:v>
                </c:pt>
                <c:pt idx="2">
                  <c:v>10</c:v>
                </c:pt>
                <c:pt idx="3">
                  <c:v>15</c:v>
                </c:pt>
                <c:pt idx="4">
                  <c:v>25</c:v>
                </c:pt>
                <c:pt idx="5">
                  <c:v>40</c:v>
                </c:pt>
              </c:numCache>
            </c:numRef>
          </c:val>
        </c:ser>
        <c:dLbls>
          <c:numFmt formatCode="General" sourceLinked="0"/>
          <c:txPr>
            <a:bodyPr/>
            <a:lstStyle/>
            <a:p>
              <a:pPr>
                <a:defRPr sz="13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C9D6EA"/>
            </a:solidFill>
          </a:ln>
        </c:spPr>
        <c:txPr>
          <a:bodyPr/>
          <a:lstStyle/>
          <a:p>
            <a:pPr>
              <a:defRPr sz="13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8.0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50">
          <a:solidFill>
            <a:srgbClr val="1B1F2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50" b="1"/>
              <a:t>Business health over 90 days (simulation)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 crew</c:v>
                </c:pt>
              </c:strCache>
            </c:strRef>
          </c:tx>
          <c:spPr>
            <a:ln w="38100">
              <a:solidFill>
                <a:srgbClr val="12A37A"/>
              </a:solidFill>
            </a:ln>
          </c:spPr>
          <c:marker>
            <c:symbol val="circle"/>
            <c:size val="7"/>
            <c:spPr>
              <a:solidFill>
                <a:srgbClr val="12A37A"/>
              </a:solidFill>
              <a:ln>
                <a:solidFill>
                  <a:srgbClr val="12A37A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D0</c:v>
                </c:pt>
                <c:pt idx="1">
                  <c:v>D10</c:v>
                </c:pt>
                <c:pt idx="2">
                  <c:v>D20</c:v>
                </c:pt>
                <c:pt idx="3">
                  <c:v>D30</c:v>
                </c:pt>
                <c:pt idx="4">
                  <c:v>D40</c:v>
                </c:pt>
                <c:pt idx="5">
                  <c:v>D50</c:v>
                </c:pt>
                <c:pt idx="6">
                  <c:v>D60</c:v>
                </c:pt>
                <c:pt idx="7">
                  <c:v>D70</c:v>
                </c:pt>
                <c:pt idx="8">
                  <c:v>D80</c:v>
                </c:pt>
                <c:pt idx="9">
                  <c:v>D90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100</c:v>
                </c:pt>
                <c:pt idx="1">
                  <c:v>81</c:v>
                </c:pt>
                <c:pt idx="2">
                  <c:v>86</c:v>
                </c:pt>
                <c:pt idx="3">
                  <c:v>76</c:v>
                </c:pt>
                <c:pt idx="4">
                  <c:v>65</c:v>
                </c:pt>
                <c:pt idx="5">
                  <c:v>80</c:v>
                </c:pt>
                <c:pt idx="6">
                  <c:v>84</c:v>
                </c:pt>
                <c:pt idx="7">
                  <c:v>85</c:v>
                </c:pt>
                <c:pt idx="8">
                  <c:v>84</c:v>
                </c:pt>
                <c:pt idx="9">
                  <c:v>84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Unassisted twin</c:v>
                </c:pt>
              </c:strCache>
            </c:strRef>
          </c:tx>
          <c:spPr>
            <a:ln w="38100">
              <a:solidFill>
                <a:srgbClr val="D64545"/>
              </a:solidFill>
            </a:ln>
          </c:spPr>
          <c:marker>
            <c:symbol val="circle"/>
            <c:size val="7"/>
            <c:spPr>
              <a:solidFill>
                <a:srgbClr val="D64545"/>
              </a:solidFill>
              <a:ln>
                <a:solidFill>
                  <a:srgbClr val="D64545"/>
                </a:solidFill>
              </a:ln>
            </c:spPr>
          </c:marker>
          <c:cat>
            <c:strRef>
              <c:f>Sheet1!$A$2:$A$11</c:f>
              <c:strCache>
                <c:ptCount val="10"/>
                <c:pt idx="0">
                  <c:v>D0</c:v>
                </c:pt>
                <c:pt idx="1">
                  <c:v>D10</c:v>
                </c:pt>
                <c:pt idx="2">
                  <c:v>D20</c:v>
                </c:pt>
                <c:pt idx="3">
                  <c:v>D30</c:v>
                </c:pt>
                <c:pt idx="4">
                  <c:v>D40</c:v>
                </c:pt>
                <c:pt idx="5">
                  <c:v>D50</c:v>
                </c:pt>
                <c:pt idx="6">
                  <c:v>D60</c:v>
                </c:pt>
                <c:pt idx="7">
                  <c:v>D70</c:v>
                </c:pt>
                <c:pt idx="8">
                  <c:v>D80</c:v>
                </c:pt>
                <c:pt idx="9">
                  <c:v>D90</c:v>
                </c:pt>
              </c:strCache>
            </c: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100</c:v>
                </c:pt>
                <c:pt idx="1">
                  <c:v>81</c:v>
                </c:pt>
                <c:pt idx="2">
                  <c:v>86</c:v>
                </c:pt>
                <c:pt idx="3">
                  <c:v>37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00.0"/>
          <c:min val="0.0"/>
        </c:scaling>
        <c:delete val="0"/>
        <c:axPos val="l"/>
        <c:majorGridlines>
          <c:spPr>
            <a:ln>
              <a:solidFill>
                <a:srgbClr val="E3E9F3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50"/>
          </a:pPr>
        </a:p>
      </c:txPr>
    </c:legend>
    <c:plotVisOnly val="1"/>
    <c:dispBlanksAs val="gap"/>
    <c:showDLblsOverMax val="0"/>
  </c:chart>
  <c:txPr>
    <a:bodyPr/>
    <a:lstStyle/>
    <a:p>
      <a:pPr>
        <a:defRPr sz="1250">
          <a:solidFill>
            <a:srgbClr val="1B1F2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50" b="1"/>
              <a:t>Addressable base (crore) [1][3]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crore</c:v>
                </c:pt>
              </c:strCache>
            </c:strRef>
          </c:tx>
          <c:spPr>
            <a:solidFill>
              <a:srgbClr val="2F6FD0"/>
            </a:solidFill>
          </c:spPr>
          <c:dPt>
            <c:idx val="0"/>
            <c:spPr>
              <a:solidFill>
                <a:srgbClr val="2F6FD0"/>
              </a:solidFill>
            </c:spPr>
          </c:dPt>
          <c:dPt>
            <c:idx val="1"/>
            <c:spPr>
              <a:solidFill>
                <a:srgbClr val="12A37A"/>
              </a:solidFill>
            </c:spPr>
          </c:dPt>
          <c:cat>
            <c:strRef>
              <c:f>Sheet1!$A$2:$A$3</c:f>
              <c:strCache>
                <c:ptCount val="2"/>
                <c:pt idx="0">
                  <c:v>MSMEs registered</c:v>
                </c:pt>
                <c:pt idx="1">
                  <c:v>GST taxpayers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7.61</c:v>
                </c:pt>
                <c:pt idx="1">
                  <c:v>1.51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25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9D6EA"/>
            </a:solidFill>
          </a:ln>
        </c:spPr>
        <c:txPr>
          <a:bodyPr/>
          <a:lstStyle/>
          <a:p>
            <a:pPr>
              <a:defRPr sz="12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5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50">
          <a:solidFill>
            <a:srgbClr val="1B1F2A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Intro: FinCrew answers PS 3.1. Product name: Mind Your Funds, deployed as the Oxro Labs Finance Desk. Add the registered Team ID before submitting.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Problem: scattered tools, no finance team, no record. Stakeholders: owner, CA, employees, customers/vendors, lenders. Gap: existing tools are reactive. Why now: thin cash buffers (27 days), fraud, 45-day rule, GST deadlines.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Solution: one finance desk for the whole team. Walk the 8-step workflow, then map each PS question to a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Innovation: Ghost Twin, Trust Dial, audit trail, DB-enforced control. Gamification ties points to real financial behaviour. Compare to sheets, accounting software and banking apps.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Tech: static PWA plus Supabase plus a tiny Netlify function for Groq. Architecture arrows show data flow. Methodology: phased, three parallel tracks, migrations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Impact: simulation shows the crew keeps health at 84 while the unassisted twin collapses by day 30. Targets are for a pilot. Future: server-side XP, bank feed, e-invoicing, 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2.xml"/><Relationship Id="rId6" Type="http://schemas.openxmlformats.org/officeDocument/2006/relationships/chart" Target="../charts/chart3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eg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6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544953" y="1000125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020101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3206863" y="-528637"/>
            <a:ext cx="11294899" cy="3114675"/>
            <a:chOff x="0" y="0"/>
            <a:chExt cx="15059866" cy="41529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059865" cy="4152900"/>
            </a:xfrm>
            <a:custGeom>
              <a:avLst/>
              <a:gdLst/>
              <a:ahLst/>
              <a:cxnLst/>
              <a:rect r="r" b="b" t="t" l="l"/>
              <a:pathLst>
                <a:path h="4152900" w="15059865">
                  <a:moveTo>
                    <a:pt x="0" y="0"/>
                  </a:moveTo>
                  <a:lnTo>
                    <a:pt x="15059865" y="0"/>
                  </a:lnTo>
                  <a:lnTo>
                    <a:pt x="15059865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1317" r="0" b="-131317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19050"/>
              <a:ext cx="15059866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>
                  <a:solidFill>
                    <a:srgbClr val="1F497D"/>
                  </a:solidFill>
                  <a:latin typeface="HK Modular"/>
                  <a:ea typeface="HK Modular"/>
                  <a:cs typeface="HK Modular"/>
                  <a:sym typeface="HK Modular"/>
                </a:rPr>
                <a:t>GAME-A-THON’26</a:t>
              </a: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585216" y="2331720"/>
            <a:ext cx="10332720" cy="5745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l" marL="651510" indent="-325755" lvl="1">
              <a:lnSpc>
                <a:spcPct val="100000"/>
              </a:lnSpc>
              <a:spcAft>
                <a:spcPts val="2500"/>
              </a:spcAft>
              <a:buFont typeface="Arial"/>
              <a:buChar char="•"/>
            </a:pPr>
            <a:r>
              <a:rPr lang="en-US" b="true" sz="3600">
                <a:solidFill>
                  <a:srgbClr val="02010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Statement ID –</a:t>
            </a:r>
            <a:br>
              <a:rPr lang="en-US" b="true" sz="2400">
                <a:solidFill>
                  <a:srgbClr val="020101"/>
                </a:solidFill>
                <a:latin typeface="Open Sans Bold"/>
                <a:ea typeface="Open Sans Bold"/>
                <a:cs typeface="Open Sans Bold"/>
                <a:sym typeface="Open Sans Bold"/>
              </a:rPr>
            </a:br>
            <a:r>
              <a:rPr lang="en-US" b="false" sz="2600">
                <a:solidFill>
                  <a:srgbClr val="1F4E8C"/>
                </a:solidFill>
                <a:latin typeface="Calibri"/>
                <a:ea typeface="Calibri"/>
                <a:cs typeface="Calibri"/>
                <a:sym typeface="Calibri"/>
              </a:rPr>
              <a:t>PS 3.1 (Track 3: FinTech)</a:t>
            </a:r>
          </a:p>
          <a:p>
            <a:pPr algn="l" marL="651510" indent="-325755" lvl="1">
              <a:lnSpc>
                <a:spcPct val="100000"/>
              </a:lnSpc>
              <a:spcAft>
                <a:spcPts val="2500"/>
              </a:spcAft>
              <a:buFont typeface="Arial"/>
              <a:buChar char="•"/>
            </a:pPr>
            <a:r>
              <a:rPr lang="en-US" b="true" sz="3600">
                <a:solidFill>
                  <a:srgbClr val="02010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Problem Statement Title–</a:t>
            </a:r>
            <a:br>
              <a:rPr lang="en-US" b="true" sz="2400">
                <a:solidFill>
                  <a:srgbClr val="020101"/>
                </a:solidFill>
                <a:latin typeface="Open Sans Bold"/>
                <a:ea typeface="Open Sans Bold"/>
                <a:cs typeface="Open Sans Bold"/>
                <a:sym typeface="Open Sans Bold"/>
              </a:rPr>
            </a:br>
            <a:r>
              <a:rPr lang="en-US" b="false" sz="2600">
                <a:solidFill>
                  <a:srgbClr val="1F4E8C"/>
                </a:solidFill>
                <a:latin typeface="Calibri"/>
                <a:ea typeface="Calibri"/>
                <a:cs typeface="Calibri"/>
                <a:sym typeface="Calibri"/>
              </a:rPr>
              <a:t>FinCrew: help small businesses stay financially healthy and decide better</a:t>
            </a:r>
          </a:p>
          <a:p>
            <a:pPr algn="l" marL="651510" indent="-325755" lvl="1">
              <a:lnSpc>
                <a:spcPct val="100000"/>
              </a:lnSpc>
              <a:spcAft>
                <a:spcPts val="2500"/>
              </a:spcAft>
              <a:buFont typeface="Arial"/>
              <a:buChar char="•"/>
            </a:pPr>
            <a:r>
              <a:rPr lang="en-US" b="true" sz="3600">
                <a:solidFill>
                  <a:srgbClr val="02010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Track –</a:t>
            </a:r>
            <a:br>
              <a:rPr lang="en-US" b="true" sz="2400">
                <a:solidFill>
                  <a:srgbClr val="020101"/>
                </a:solidFill>
                <a:latin typeface="Open Sans Bold"/>
                <a:ea typeface="Open Sans Bold"/>
                <a:cs typeface="Open Sans Bold"/>
                <a:sym typeface="Open Sans Bold"/>
              </a:rPr>
            </a:br>
            <a:r>
              <a:rPr lang="en-US" b="false" sz="2600">
                <a:solidFill>
                  <a:srgbClr val="1F4E8C"/>
                </a:solidFill>
                <a:latin typeface="Calibri"/>
                <a:ea typeface="Calibri"/>
                <a:cs typeface="Calibri"/>
                <a:sym typeface="Calibri"/>
              </a:rPr>
              <a:t>FinTech  ·  SDG 8  ·  SDG 9  ·  SDG 16</a:t>
            </a:r>
          </a:p>
          <a:p>
            <a:pPr algn="l" marL="651510" indent="-325755" lvl="1">
              <a:lnSpc>
                <a:spcPct val="100000"/>
              </a:lnSpc>
              <a:spcAft>
                <a:spcPts val="2500"/>
              </a:spcAft>
              <a:buFont typeface="Arial"/>
              <a:buChar char="•"/>
            </a:pPr>
            <a:r>
              <a:rPr lang="en-US" b="true" sz="3600">
                <a:solidFill>
                  <a:srgbClr val="02010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ID –</a:t>
            </a:r>
            <a:br>
              <a:rPr lang="en-US" b="true" sz="2400">
                <a:solidFill>
                  <a:srgbClr val="020101"/>
                </a:solidFill>
                <a:latin typeface="Open Sans Bold"/>
                <a:ea typeface="Open Sans Bold"/>
                <a:cs typeface="Open Sans Bold"/>
                <a:sym typeface="Open Sans Bold"/>
              </a:rPr>
            </a:br>
            <a:r>
              <a:rPr lang="en-US" b="false" sz="2600">
                <a:solidFill>
                  <a:srgbClr val="1F4E8C"/>
                </a:solidFill>
                <a:latin typeface="Calibri"/>
                <a:ea typeface="Calibri"/>
                <a:cs typeface="Calibri"/>
                <a:sym typeface="Calibri"/>
              </a:rPr>
              <a:t>[ add registered Team ID ]</a:t>
            </a:r>
          </a:p>
          <a:p>
            <a:pPr algn="l" marL="651510" indent="-325755" lvl="1">
              <a:lnSpc>
                <a:spcPct val="100000"/>
              </a:lnSpc>
              <a:spcAft>
                <a:spcPts val="2500"/>
              </a:spcAft>
              <a:buFont typeface="Arial"/>
              <a:buChar char="•"/>
            </a:pPr>
            <a:r>
              <a:rPr lang="en-US" b="true" sz="3600">
                <a:solidFill>
                  <a:srgbClr val="02010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Team Name –</a:t>
            </a:r>
            <a:br>
              <a:rPr lang="en-US" b="true" sz="2400">
                <a:solidFill>
                  <a:srgbClr val="020101"/>
                </a:solidFill>
                <a:latin typeface="Open Sans Bold"/>
                <a:ea typeface="Open Sans Bold"/>
                <a:cs typeface="Open Sans Bold"/>
                <a:sym typeface="Open Sans Bold"/>
              </a:rPr>
            </a:br>
            <a:r>
              <a:rPr lang="en-US" b="false" sz="2600">
                <a:solidFill>
                  <a:srgbClr val="1F4E8C"/>
                </a:solidFill>
                <a:latin typeface="Calibri"/>
                <a:ea typeface="Calibri"/>
                <a:cs typeface="Calibri"/>
                <a:sym typeface="Calibri"/>
              </a:rPr>
              <a:t>OXRO LABS  ·  Ram · Sumit · Masoom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14319495" y="107590"/>
            <a:ext cx="3831492" cy="1593504"/>
            <a:chOff x="0" y="0"/>
            <a:chExt cx="5108655" cy="212467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108694" cy="2124710"/>
            </a:xfrm>
            <a:custGeom>
              <a:avLst/>
              <a:gdLst/>
              <a:ahLst/>
              <a:cxnLst/>
              <a:rect r="r" b="b" t="t" l="l"/>
              <a:pathLst>
                <a:path h="2124710" w="5108694">
                  <a:moveTo>
                    <a:pt x="0" y="0"/>
                  </a:moveTo>
                  <a:lnTo>
                    <a:pt x="5108694" y="0"/>
                  </a:lnTo>
                  <a:lnTo>
                    <a:pt x="5108694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586" r="0" b="-586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-720993" y="15505"/>
            <a:ext cx="4086595" cy="1850633"/>
            <a:chOff x="0" y="0"/>
            <a:chExt cx="5448793" cy="24675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462400" y="0"/>
              <a:ext cx="2370232" cy="2370232"/>
            </a:xfrm>
            <a:custGeom>
              <a:avLst/>
              <a:gdLst/>
              <a:ahLst/>
              <a:cxnLst/>
              <a:rect r="r" b="b" t="t" l="l"/>
              <a:pathLst>
                <a:path h="2370232" w="2370232">
                  <a:moveTo>
                    <a:pt x="0" y="0"/>
                  </a:moveTo>
                  <a:lnTo>
                    <a:pt x="2370232" y="0"/>
                  </a:lnTo>
                  <a:lnTo>
                    <a:pt x="2370232" y="2370232"/>
                  </a:lnTo>
                  <a:lnTo>
                    <a:pt x="0" y="2370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1979768"/>
              <a:ext cx="5448793" cy="487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8"/>
                </a:lnSpc>
                <a:spcBef>
                  <a:spcPct val="0"/>
                </a:spcBef>
              </a:pPr>
              <a:r>
                <a:rPr lang="en-US" sz="2170" spc="108">
                  <a:solidFill>
                    <a:srgbClr val="4E3D0A"/>
                  </a:solidFill>
                  <a:latin typeface="Mokoto"/>
                  <a:ea typeface="Mokoto"/>
                  <a:cs typeface="Mokoto"/>
                  <a:sym typeface="Mokoto"/>
                </a:rPr>
                <a:t>ARROWDEV</a:t>
              </a:r>
            </a:p>
          </p:txBody>
        </p:sp>
      </p:grpSp>
      <p:sp>
        <p:nvSpPr>
          <p:cNvPr id="12" name="Rounded Rectangle 11"/>
          <p:cNvSpPr/>
          <p:nvPr/>
        </p:nvSpPr>
        <p:spPr>
          <a:xfrm>
            <a:off x="11247120" y="2148840"/>
            <a:ext cx="6629400" cy="2697480"/>
          </a:xfrm>
          <a:prstGeom prst="roundRect">
            <a:avLst>
              <a:gd name="adj" fmla="val 6101"/>
            </a:avLst>
          </a:prstGeom>
          <a:solidFill>
            <a:srgbClr val="143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1430000" y="2331720"/>
            <a:ext cx="2331720" cy="2331720"/>
          </a:xfrm>
          <a:prstGeom prst="roundRect">
            <a:avLst>
              <a:gd name="adj" fmla="val 6274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75720" y="2377440"/>
            <a:ext cx="2240280" cy="22402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3898880" y="2286000"/>
            <a:ext cx="393192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MIND YOUR FUNDS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0" y="2816352"/>
            <a:ext cx="393192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2B705"/>
                </a:solidFill>
                <a:latin typeface="Calibri"/>
              </a:rPr>
              <a:t>Oxro Labs Finance Desk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0" y="3337560"/>
            <a:ext cx="3931920" cy="14630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DCE6F7"/>
                </a:solidFill>
                <a:latin typeface="Calibri"/>
              </a:rPr>
              <a:t>A finance manager that feels like a game: plan · track · grow.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DCE6F7"/>
                </a:solidFill>
                <a:latin typeface="Calibri"/>
              </a:rPr>
              <a:t>Catches late payments, missed GST deadlines and fraud, and keeps the owner in control.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247120" y="4983480"/>
            <a:ext cx="3246120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338560" y="5029200"/>
            <a:ext cx="306324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2F6FD0"/>
                </a:solidFill>
                <a:latin typeface="Calibri"/>
              </a:rPr>
              <a:t>7.61 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338560" y="5623560"/>
            <a:ext cx="306324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678"/>
                </a:solidFill>
                <a:latin typeface="Calibri"/>
              </a:rPr>
              <a:t>MSMEs registered in India [1]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4630400" y="4983480"/>
            <a:ext cx="3246120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721840" y="5029200"/>
            <a:ext cx="306324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2A37A"/>
                </a:solidFill>
                <a:latin typeface="Calibri"/>
              </a:rPr>
              <a:t>27 days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721840" y="5623560"/>
            <a:ext cx="306324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678"/>
                </a:solidFill>
                <a:latin typeface="Calibri"/>
              </a:rPr>
              <a:t>median small-business cash buffer [5]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247120" y="6263640"/>
            <a:ext cx="3246120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338560" y="6309359"/>
            <a:ext cx="306324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D64545"/>
                </a:solidFill>
                <a:latin typeface="Calibri"/>
              </a:rPr>
              <a:t>₹36,014 cr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903720"/>
            <a:ext cx="306324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678"/>
                </a:solidFill>
                <a:latin typeface="Calibri"/>
              </a:rPr>
              <a:t>bank fraud reported, FY25 [4]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630400" y="6263640"/>
            <a:ext cx="3246120" cy="1188720"/>
          </a:xfrm>
          <a:prstGeom prst="roundRect">
            <a:avLst>
              <a:gd name="adj" fmla="val 9230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721840" y="6309359"/>
            <a:ext cx="3063240" cy="5943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200" b="1" i="0">
                <a:solidFill>
                  <a:srgbClr val="1F4E8C"/>
                </a:solidFill>
                <a:latin typeface="Calibri"/>
              </a:rPr>
              <a:t>1.51 cr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721840" y="6903720"/>
            <a:ext cx="3063240" cy="502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5B6678"/>
                </a:solidFill>
                <a:latin typeface="Calibri"/>
              </a:rPr>
              <a:t>active GST registrations [3]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247120" y="7635240"/>
            <a:ext cx="2103120" cy="1005840"/>
          </a:xfrm>
          <a:prstGeom prst="roundRect">
            <a:avLst>
              <a:gd name="adj" fmla="val 9090"/>
            </a:avLst>
          </a:prstGeom>
          <a:solidFill>
            <a:srgbClr val="A21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274552" y="7653527"/>
            <a:ext cx="731520" cy="9692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932920" y="7653527"/>
            <a:ext cx="1389888" cy="9692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SDG 8: Decent Work &amp; Economic Growth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3487400" y="7635240"/>
            <a:ext cx="2103120" cy="1005840"/>
          </a:xfrm>
          <a:prstGeom prst="roundRect">
            <a:avLst>
              <a:gd name="adj" fmla="val 9090"/>
            </a:avLst>
          </a:prstGeom>
          <a:solidFill>
            <a:srgbClr val="F36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3514832" y="7653527"/>
            <a:ext cx="731520" cy="9692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173200" y="7653527"/>
            <a:ext cx="1389888" cy="9692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SDG 9: Industry, Innovation &amp; Infrastructure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727680" y="7635240"/>
            <a:ext cx="2103120" cy="1005840"/>
          </a:xfrm>
          <a:prstGeom prst="roundRect">
            <a:avLst>
              <a:gd name="adj" fmla="val 9090"/>
            </a:avLst>
          </a:prstGeom>
          <a:solidFill>
            <a:srgbClr val="006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755112" y="7653527"/>
            <a:ext cx="731520" cy="9692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413480" y="7653527"/>
            <a:ext cx="1389888" cy="96926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SDG 16: Peace, Justice &amp; Strong Institutions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247120" y="8778240"/>
            <a:ext cx="2103120" cy="960120"/>
          </a:xfrm>
          <a:prstGeom prst="roundRect">
            <a:avLst>
              <a:gd name="adj" fmla="val 9523"/>
            </a:avLst>
          </a:prstGeom>
          <a:solidFill>
            <a:srgbClr val="EEF3FA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305E"/>
                </a:solidFill>
                <a:latin typeface="Calibri"/>
              </a:rPr>
              <a:t>Ram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8"/>
                </a:solidFill>
                <a:latin typeface="Calibri"/>
              </a:rPr>
              <a:t>Engine · agents · database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3487400" y="8778240"/>
            <a:ext cx="2103120" cy="960120"/>
          </a:xfrm>
          <a:prstGeom prst="roundRect">
            <a:avLst>
              <a:gd name="adj" fmla="val 9523"/>
            </a:avLst>
          </a:prstGeom>
          <a:solidFill>
            <a:srgbClr val="EEF3FA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305E"/>
                </a:solidFill>
                <a:latin typeface="Calibri"/>
              </a:rPr>
              <a:t>Sumit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8"/>
                </a:solidFill>
                <a:latin typeface="Calibri"/>
              </a:rPr>
              <a:t>UI · gamification feel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5727680" y="8778240"/>
            <a:ext cx="2103120" cy="960120"/>
          </a:xfrm>
          <a:prstGeom prst="roundRect">
            <a:avLst>
              <a:gd name="adj" fmla="val 9523"/>
            </a:avLst>
          </a:prstGeom>
          <a:solidFill>
            <a:srgbClr val="EEF3FA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305E"/>
                </a:solidFill>
                <a:latin typeface="Calibri"/>
              </a:rPr>
              <a:t>Masoom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8"/>
                </a:solidFill>
                <a:latin typeface="Calibri"/>
              </a:rPr>
              <a:t>Trust · content · pitch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5216" y="9692640"/>
            <a:ext cx="1033272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5B6678"/>
                </a:solidFill>
                <a:latin typeface="Calibri"/>
              </a:rPr>
              <a:t>Product: Mind Your Funds  ·  Oxro Labs Finance Desk   |   Stats and references: slide 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624352" y="-305416"/>
            <a:ext cx="13001196" cy="1901168"/>
            <a:chOff x="0" y="0"/>
            <a:chExt cx="17334929" cy="25348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7334928" cy="2534890"/>
            </a:xfrm>
            <a:custGeom>
              <a:avLst/>
              <a:gdLst/>
              <a:ahLst/>
              <a:cxnLst/>
              <a:rect r="r" b="b" t="t" l="l"/>
              <a:pathLst>
                <a:path h="2534890" w="17334928">
                  <a:moveTo>
                    <a:pt x="0" y="0"/>
                  </a:moveTo>
                  <a:lnTo>
                    <a:pt x="17334928" y="0"/>
                  </a:lnTo>
                  <a:lnTo>
                    <a:pt x="17334928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3599" r="-26597" b="-11378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17334929" cy="256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2010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PROBLEM STATEMENT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525257" y="-254881"/>
            <a:ext cx="4086595" cy="1850633"/>
            <a:chOff x="0" y="0"/>
            <a:chExt cx="5448793" cy="24675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462400" y="0"/>
              <a:ext cx="2370232" cy="2370232"/>
            </a:xfrm>
            <a:custGeom>
              <a:avLst/>
              <a:gdLst/>
              <a:ahLst/>
              <a:cxnLst/>
              <a:rect r="r" b="b" t="t" l="l"/>
              <a:pathLst>
                <a:path h="2370232" w="2370232">
                  <a:moveTo>
                    <a:pt x="0" y="0"/>
                  </a:moveTo>
                  <a:lnTo>
                    <a:pt x="2370232" y="0"/>
                  </a:lnTo>
                  <a:lnTo>
                    <a:pt x="2370232" y="2370232"/>
                  </a:lnTo>
                  <a:lnTo>
                    <a:pt x="0" y="2370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1979768"/>
              <a:ext cx="5448793" cy="487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8"/>
                </a:lnSpc>
                <a:spcBef>
                  <a:spcPct val="0"/>
                </a:spcBef>
              </a:pPr>
              <a:r>
                <a:rPr lang="en-US" sz="2170" spc="108">
                  <a:solidFill>
                    <a:srgbClr val="4E3D0A"/>
                  </a:solidFill>
                  <a:latin typeface="Mokoto"/>
                  <a:ea typeface="Mokoto"/>
                  <a:cs typeface="Mokoto"/>
                  <a:sym typeface="Mokoto"/>
                </a:rPr>
                <a:t>ARROWDEV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298393" y="89073"/>
            <a:ext cx="3831492" cy="1593504"/>
            <a:chOff x="0" y="0"/>
            <a:chExt cx="5108655" cy="2124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08694" cy="2124710"/>
            </a:xfrm>
            <a:custGeom>
              <a:avLst/>
              <a:gdLst/>
              <a:ahLst/>
              <a:cxnLst/>
              <a:rect r="r" b="b" t="t" l="l"/>
              <a:pathLst>
                <a:path h="2124710" w="5108694">
                  <a:moveTo>
                    <a:pt x="0" y="0"/>
                  </a:moveTo>
                  <a:lnTo>
                    <a:pt x="5108694" y="0"/>
                  </a:lnTo>
                  <a:lnTo>
                    <a:pt x="5108694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86" r="0" b="-586"/>
              </a:stretch>
            </a:blipFill>
          </p:spPr>
        </p:sp>
      </p:grpSp>
      <p:sp>
        <p:nvSpPr>
          <p:cNvPr id="14" name="Rounded Rectangle 13"/>
          <p:cNvSpPr/>
          <p:nvPr/>
        </p:nvSpPr>
        <p:spPr>
          <a:xfrm>
            <a:off x="411480" y="1828800"/>
            <a:ext cx="8595360" cy="3931920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" y="1828800"/>
            <a:ext cx="8595360" cy="530352"/>
          </a:xfrm>
          <a:prstGeom prst="roundRect">
            <a:avLst>
              <a:gd name="adj" fmla="val 24137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093976"/>
            <a:ext cx="8595360" cy="26517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1828800"/>
            <a:ext cx="8266176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Problem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2487168"/>
            <a:ext cx="4160520" cy="32461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182880" indent="-18288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B1F2A"/>
                </a:solidFill>
                <a:latin typeface="Calibri"/>
              </a:rPr>
              <a:t>Invoices, bills, payroll, GST and cash flow sit in 6+ disconnected tools</a:t>
            </a:r>
          </a:p>
          <a:p>
            <a:pPr algn="l" marL="182880" indent="-18288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B1F2A"/>
                </a:solidFill>
                <a:latin typeface="Calibri"/>
              </a:rPr>
              <a:t>No finance team: risks surface only after the damage (late payer, missed GSTR-1/3B, fake invoice)</a:t>
            </a:r>
          </a:p>
          <a:p>
            <a:pPr algn="l" marL="182880" indent="-18288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B1F2A"/>
                </a:solidFill>
                <a:latin typeface="Calibri"/>
              </a:rPr>
              <a:t>The owner cannot answer "what must I act on today?" or prove what was done and why</a:t>
            </a:r>
          </a:p>
          <a:p>
            <a:pPr algn="l" marL="182880" indent="-18288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700" b="0" i="0">
                <a:solidFill>
                  <a:srgbClr val="1B1F2A"/>
                </a:solidFill>
                <a:latin typeface="Calibri"/>
              </a:rPr>
              <a:t>New 45-day MSME payment rule and monthly GST deadlines add load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709160" y="2697480"/>
            <a:ext cx="1325880" cy="475488"/>
          </a:xfrm>
          <a:prstGeom prst="roundRect">
            <a:avLst>
              <a:gd name="adj" fmla="val 15384"/>
            </a:avLst>
          </a:prstGeom>
          <a:solidFill>
            <a:srgbClr val="EEF3FA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8C"/>
                </a:solidFill>
                <a:latin typeface="Calibri"/>
              </a:rPr>
              <a:t>Excel sheets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67528" y="3172968"/>
            <a:ext cx="1353312" cy="338328"/>
          </a:xfrm>
          <a:prstGeom prst="line">
            <a:avLst/>
          </a:prstGeom>
          <a:ln w="22225">
            <a:solidFill>
              <a:srgbClr val="D6454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172200" y="2697480"/>
            <a:ext cx="1325880" cy="475488"/>
          </a:xfrm>
          <a:prstGeom prst="roundRect">
            <a:avLst>
              <a:gd name="adj" fmla="val 15384"/>
            </a:avLst>
          </a:prstGeom>
          <a:solidFill>
            <a:srgbClr val="EEF3FA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8C"/>
                </a:solidFill>
                <a:latin typeface="Calibri"/>
              </a:rPr>
              <a:t>Bank app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6720840" y="3172968"/>
            <a:ext cx="109728" cy="338328"/>
          </a:xfrm>
          <a:prstGeom prst="line">
            <a:avLst/>
          </a:prstGeom>
          <a:ln w="22225">
            <a:solidFill>
              <a:srgbClr val="D6454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589520" y="2697480"/>
            <a:ext cx="1325880" cy="475488"/>
          </a:xfrm>
          <a:prstGeom prst="roundRect">
            <a:avLst>
              <a:gd name="adj" fmla="val 15384"/>
            </a:avLst>
          </a:prstGeom>
          <a:solidFill>
            <a:srgbClr val="EEF3FA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8C"/>
                </a:solidFill>
                <a:latin typeface="Calibri"/>
              </a:rPr>
              <a:t>WhatsApp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6720840" y="3172968"/>
            <a:ext cx="1527048" cy="338328"/>
          </a:xfrm>
          <a:prstGeom prst="line">
            <a:avLst/>
          </a:prstGeom>
          <a:ln w="22225">
            <a:solidFill>
              <a:srgbClr val="D6454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4709160" y="5166360"/>
            <a:ext cx="1325880" cy="475488"/>
          </a:xfrm>
          <a:prstGeom prst="roundRect">
            <a:avLst>
              <a:gd name="adj" fmla="val 15384"/>
            </a:avLst>
          </a:prstGeom>
          <a:solidFill>
            <a:srgbClr val="EEF3FA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8C"/>
                </a:solidFill>
                <a:latin typeface="Calibri"/>
              </a:rPr>
              <a:t>GST portal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5367528" y="4718304"/>
            <a:ext cx="1353312" cy="448056"/>
          </a:xfrm>
          <a:prstGeom prst="line">
            <a:avLst/>
          </a:prstGeom>
          <a:ln w="22225">
            <a:solidFill>
              <a:srgbClr val="D6454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172200" y="5166360"/>
            <a:ext cx="1325880" cy="475488"/>
          </a:xfrm>
          <a:prstGeom prst="roundRect">
            <a:avLst>
              <a:gd name="adj" fmla="val 15384"/>
            </a:avLst>
          </a:prstGeom>
          <a:solidFill>
            <a:srgbClr val="EEF3FA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8C"/>
                </a:solidFill>
                <a:latin typeface="Calibri"/>
              </a:rPr>
              <a:t>Accounting tool</a:t>
            </a:r>
          </a:p>
        </p:txBody>
      </p:sp>
      <p:cxnSp>
        <p:nvCxnSpPr>
          <p:cNvPr id="28" name="Connector 27"/>
          <p:cNvCxnSpPr/>
          <p:nvPr/>
        </p:nvCxnSpPr>
        <p:spPr>
          <a:xfrm flipH="1" flipV="1">
            <a:off x="6720840" y="4718304"/>
            <a:ext cx="109728" cy="448056"/>
          </a:xfrm>
          <a:prstGeom prst="line">
            <a:avLst/>
          </a:prstGeom>
          <a:ln w="22225">
            <a:solidFill>
              <a:srgbClr val="D6454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589520" y="5166360"/>
            <a:ext cx="1325880" cy="475488"/>
          </a:xfrm>
          <a:prstGeom prst="roundRect">
            <a:avLst>
              <a:gd name="adj" fmla="val 15384"/>
            </a:avLst>
          </a:prstGeom>
          <a:solidFill>
            <a:srgbClr val="EEF3FA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F4E8C"/>
                </a:solidFill>
                <a:latin typeface="Calibri"/>
              </a:rPr>
              <a:t>Paper bills</a:t>
            </a:r>
          </a:p>
        </p:txBody>
      </p:sp>
      <p:cxnSp>
        <p:nvCxnSpPr>
          <p:cNvPr id="30" name="Connector 29"/>
          <p:cNvCxnSpPr/>
          <p:nvPr/>
        </p:nvCxnSpPr>
        <p:spPr>
          <a:xfrm flipH="1" flipV="1">
            <a:off x="6720840" y="4718304"/>
            <a:ext cx="1527048" cy="448056"/>
          </a:xfrm>
          <a:prstGeom prst="line">
            <a:avLst/>
          </a:prstGeom>
          <a:ln w="22225">
            <a:solidFill>
              <a:srgbClr val="D6454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6126479" y="3520440"/>
            <a:ext cx="1188720" cy="1188720"/>
          </a:xfrm>
          <a:prstGeom prst="ellipse">
            <a:avLst/>
          </a:prstGeom>
          <a:solidFill>
            <a:srgbClr val="143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Owner?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09160" y="3474720"/>
            <a:ext cx="155448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D64545"/>
                </a:solidFill>
                <a:latin typeface="Calibri"/>
              </a:rPr>
              <a:t>no single 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144000" y="1828800"/>
            <a:ext cx="8732520" cy="3931920"/>
          </a:xfrm>
          <a:prstGeom prst="roundRect">
            <a:avLst>
              <a:gd name="adj" fmla="val 3255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144000" y="1828800"/>
            <a:ext cx="8732520" cy="530352"/>
          </a:xfrm>
          <a:prstGeom prst="roundRect">
            <a:avLst>
              <a:gd name="adj" fmla="val 24137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2093976"/>
            <a:ext cx="8732520" cy="26517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08592" y="1828800"/>
            <a:ext cx="8403336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Target users / affected stakeholders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281160" y="2697480"/>
            <a:ext cx="2103120" cy="475488"/>
          </a:xfrm>
          <a:prstGeom prst="roundRect">
            <a:avLst>
              <a:gd name="adj" fmla="val 15384"/>
            </a:avLst>
          </a:prstGeom>
          <a:solidFill>
            <a:srgbClr val="E6F6F0"/>
          </a:solidFill>
          <a:ln w="15875">
            <a:solidFill>
              <a:srgbClr val="12A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6B4E"/>
                </a:solidFill>
                <a:latin typeface="Calibri"/>
              </a:rPr>
              <a:t>Accountant / CA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0332720" y="3172968"/>
            <a:ext cx="1371600" cy="338328"/>
          </a:xfrm>
          <a:prstGeom prst="line">
            <a:avLst/>
          </a:prstGeom>
          <a:ln w="22225">
            <a:solidFill>
              <a:srgbClr val="12A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1932920" y="2697480"/>
            <a:ext cx="2103120" cy="475488"/>
          </a:xfrm>
          <a:prstGeom prst="roundRect">
            <a:avLst>
              <a:gd name="adj" fmla="val 15384"/>
            </a:avLst>
          </a:prstGeom>
          <a:solidFill>
            <a:srgbClr val="E6F6F0"/>
          </a:solidFill>
          <a:ln w="15875">
            <a:solidFill>
              <a:srgbClr val="12A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6B4E"/>
                </a:solidFill>
                <a:latin typeface="Calibri"/>
              </a:rPr>
              <a:t>Employees (payroll)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11704320" y="3172968"/>
            <a:ext cx="1280160" cy="338328"/>
          </a:xfrm>
          <a:prstGeom prst="line">
            <a:avLst/>
          </a:prstGeom>
          <a:ln w="22225">
            <a:solidFill>
              <a:srgbClr val="12A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281160" y="5166360"/>
            <a:ext cx="2103120" cy="475488"/>
          </a:xfrm>
          <a:prstGeom prst="roundRect">
            <a:avLst>
              <a:gd name="adj" fmla="val 15384"/>
            </a:avLst>
          </a:prstGeom>
          <a:solidFill>
            <a:srgbClr val="E6F6F0"/>
          </a:solidFill>
          <a:ln w="15875">
            <a:solidFill>
              <a:srgbClr val="12A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6B4E"/>
                </a:solidFill>
                <a:latin typeface="Calibri"/>
              </a:rPr>
              <a:t>Customers &amp; vendors</a:t>
            </a:r>
          </a:p>
        </p:txBody>
      </p:sp>
      <p:cxnSp>
        <p:nvCxnSpPr>
          <p:cNvPr id="42" name="Connector 41"/>
          <p:cNvCxnSpPr/>
          <p:nvPr/>
        </p:nvCxnSpPr>
        <p:spPr>
          <a:xfrm flipV="1">
            <a:off x="10332720" y="4718304"/>
            <a:ext cx="1371600" cy="448056"/>
          </a:xfrm>
          <a:prstGeom prst="line">
            <a:avLst/>
          </a:prstGeom>
          <a:ln w="22225">
            <a:solidFill>
              <a:srgbClr val="12A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11932920" y="5166360"/>
            <a:ext cx="2103120" cy="475488"/>
          </a:xfrm>
          <a:prstGeom prst="roundRect">
            <a:avLst>
              <a:gd name="adj" fmla="val 15384"/>
            </a:avLst>
          </a:prstGeom>
          <a:solidFill>
            <a:srgbClr val="E6F6F0"/>
          </a:solidFill>
          <a:ln w="15875">
            <a:solidFill>
              <a:srgbClr val="12A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6B4E"/>
                </a:solidFill>
                <a:latin typeface="Calibri"/>
              </a:rPr>
              <a:t>Lenders &amp; GST authority</a:t>
            </a:r>
          </a:p>
        </p:txBody>
      </p:sp>
      <p:cxnSp>
        <p:nvCxnSpPr>
          <p:cNvPr id="44" name="Connector 43"/>
          <p:cNvCxnSpPr/>
          <p:nvPr/>
        </p:nvCxnSpPr>
        <p:spPr>
          <a:xfrm flipH="1" flipV="1">
            <a:off x="11704320" y="4718304"/>
            <a:ext cx="1280160" cy="448056"/>
          </a:xfrm>
          <a:prstGeom prst="line">
            <a:avLst/>
          </a:prstGeom>
          <a:ln w="22225">
            <a:solidFill>
              <a:srgbClr val="12A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9281160" y="3886200"/>
            <a:ext cx="1645920" cy="475488"/>
          </a:xfrm>
          <a:prstGeom prst="roundRect">
            <a:avLst>
              <a:gd name="adj" fmla="val 15384"/>
            </a:avLst>
          </a:prstGeom>
          <a:solidFill>
            <a:srgbClr val="E6F6F0"/>
          </a:solidFill>
          <a:ln w="15875">
            <a:solidFill>
              <a:srgbClr val="12A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6B4E"/>
                </a:solidFill>
                <a:latin typeface="Calibri"/>
              </a:rPr>
              <a:t>Approvers / admins</a:t>
            </a:r>
          </a:p>
        </p:txBody>
      </p:sp>
      <p:cxnSp>
        <p:nvCxnSpPr>
          <p:cNvPr id="46" name="Connector 45"/>
          <p:cNvCxnSpPr/>
          <p:nvPr/>
        </p:nvCxnSpPr>
        <p:spPr>
          <a:xfrm flipV="1">
            <a:off x="10927080" y="4114800"/>
            <a:ext cx="182880" cy="9144"/>
          </a:xfrm>
          <a:prstGeom prst="line">
            <a:avLst/>
          </a:prstGeom>
          <a:ln w="22225">
            <a:solidFill>
              <a:srgbClr val="12A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12435840" y="3886200"/>
            <a:ext cx="1600200" cy="475488"/>
          </a:xfrm>
          <a:prstGeom prst="roundRect">
            <a:avLst>
              <a:gd name="adj" fmla="val 15384"/>
            </a:avLst>
          </a:prstGeom>
          <a:solidFill>
            <a:srgbClr val="E6F6F0"/>
          </a:solidFill>
          <a:ln w="15875">
            <a:solidFill>
              <a:srgbClr val="12A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B6B4E"/>
                </a:solidFill>
                <a:latin typeface="Calibri"/>
              </a:rPr>
              <a:t>Company finance team</a:t>
            </a:r>
          </a:p>
        </p:txBody>
      </p:sp>
      <p:cxnSp>
        <p:nvCxnSpPr>
          <p:cNvPr id="48" name="Connector 47"/>
          <p:cNvCxnSpPr/>
          <p:nvPr/>
        </p:nvCxnSpPr>
        <p:spPr>
          <a:xfrm flipH="1" flipV="1">
            <a:off x="12298680" y="4114800"/>
            <a:ext cx="137160" cy="9144"/>
          </a:xfrm>
          <a:prstGeom prst="line">
            <a:avLst/>
          </a:prstGeom>
          <a:ln w="22225">
            <a:solidFill>
              <a:srgbClr val="12A37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11109960" y="3520440"/>
            <a:ext cx="1188720" cy="1188720"/>
          </a:xfrm>
          <a:prstGeom prst="ellipse">
            <a:avLst/>
          </a:prstGeom>
          <a:solidFill>
            <a:srgbClr val="12A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Small business owner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4173200" y="2514600"/>
            <a:ext cx="3547872" cy="987552"/>
          </a:xfrm>
          <a:prstGeom prst="roundRect">
            <a:avLst>
              <a:gd name="adj" fmla="val 9259"/>
            </a:avLst>
          </a:prstGeom>
          <a:solidFill>
            <a:srgbClr val="EEF3FA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4191488" y="2514600"/>
            <a:ext cx="1783080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4E8C"/>
                </a:solidFill>
                <a:latin typeface="Calibri"/>
              </a:rPr>
              <a:t>7.61 crore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910559" y="2514600"/>
            <a:ext cx="1783080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1F2A"/>
                </a:solidFill>
                <a:latin typeface="Calibri"/>
              </a:rPr>
              <a:t>registered MSMEs [1]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4173200" y="3584448"/>
            <a:ext cx="3547872" cy="987552"/>
          </a:xfrm>
          <a:prstGeom prst="roundRect">
            <a:avLst>
              <a:gd name="adj" fmla="val 9259"/>
            </a:avLst>
          </a:prstGeom>
          <a:solidFill>
            <a:srgbClr val="EEF3FA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4191488" y="3584448"/>
            <a:ext cx="1783080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4E8C"/>
                </a:solidFill>
                <a:latin typeface="Calibri"/>
              </a:rPr>
              <a:t>30.1%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910559" y="3584448"/>
            <a:ext cx="1783080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1F2A"/>
                </a:solidFill>
                <a:latin typeface="Calibri"/>
              </a:rPr>
              <a:t>of India's GDP [2]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4173200" y="4654296"/>
            <a:ext cx="3547872" cy="987552"/>
          </a:xfrm>
          <a:prstGeom prst="roundRect">
            <a:avLst>
              <a:gd name="adj" fmla="val 9259"/>
            </a:avLst>
          </a:prstGeom>
          <a:solidFill>
            <a:srgbClr val="EEF3FA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4191488" y="4654296"/>
            <a:ext cx="1783080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400" b="1" i="0">
                <a:solidFill>
                  <a:srgbClr val="1F4E8C"/>
                </a:solidFill>
                <a:latin typeface="Calibri"/>
              </a:rPr>
              <a:t>45.73%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5910559" y="4654296"/>
            <a:ext cx="1783080" cy="9875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1B1F2A"/>
                </a:solidFill>
                <a:latin typeface="Calibri"/>
              </a:rPr>
              <a:t>of India's exports [2]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11480" y="5897880"/>
            <a:ext cx="8595360" cy="3749039"/>
          </a:xfrm>
          <a:prstGeom prst="roundRect">
            <a:avLst>
              <a:gd name="adj" fmla="val 3414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411480" y="5897880"/>
            <a:ext cx="8595360" cy="530352"/>
          </a:xfrm>
          <a:prstGeom prst="roundRect">
            <a:avLst>
              <a:gd name="adj" fmla="val 24137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11480" y="6163056"/>
            <a:ext cx="8595360" cy="26517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6072" y="5897880"/>
            <a:ext cx="8266176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Existing gap</a:t>
            </a: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548640" y="6583680"/>
          <a:ext cx="8321040" cy="30723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2194560"/>
                <a:gridCol w="3931920"/>
              </a:tblGrid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Existing tool</a:t>
                      </a:r>
                    </a:p>
                  </a:txBody>
                  <a:tcPr marL="73152" marR="73152" marT="27432" marB="27432" anchor="ctr">
                    <a:solidFill>
                      <a:srgbClr val="1430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Does well</a:t>
                      </a:r>
                    </a:p>
                  </a:txBody>
                  <a:tcPr marL="73152" marR="73152" marT="27432" marB="27432" anchor="ctr">
                    <a:solidFill>
                      <a:srgbClr val="1430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Calibri"/>
                        </a:rPr>
                        <a:t>Gap for a small business</a:t>
                      </a:r>
                    </a:p>
                  </a:txBody>
                  <a:tcPr marL="73152" marR="73152" marT="27432" marB="27432" anchor="ctr">
                    <a:solidFill>
                      <a:srgbClr val="14305E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1B1F2A"/>
                          </a:solidFill>
                          <a:latin typeface="Calibri"/>
                        </a:rPr>
                        <a:t>Spreadsheets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F2A"/>
                          </a:solidFill>
                          <a:latin typeface="Calibri"/>
                        </a:rPr>
                        <a:t>Flexible records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F2A"/>
                          </a:solidFill>
                          <a:latin typeface="Calibri"/>
                        </a:rPr>
                        <a:t>Manual, error-prone, no alerts or audit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1B1F2A"/>
                          </a:solidFill>
                          <a:latin typeface="Calibri"/>
                        </a:rPr>
                        <a:t>Accounting software</a:t>
                      </a:r>
                    </a:p>
                  </a:txBody>
                  <a:tcPr marL="73152" marR="73152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F2A"/>
                          </a:solidFill>
                          <a:latin typeface="Calibri"/>
                        </a:rPr>
                        <a:t>Books and GST reports</a:t>
                      </a:r>
                    </a:p>
                  </a:txBody>
                  <a:tcPr marL="73152" marR="73152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F2A"/>
                          </a:solidFill>
                          <a:latin typeface="Calibri"/>
                        </a:rPr>
                        <a:t>Reactive: shows history, warns late</a:t>
                      </a:r>
                    </a:p>
                  </a:txBody>
                  <a:tcPr marL="73152" marR="73152" marT="27432" marB="27432" anchor="ctr">
                    <a:solidFill>
                      <a:srgbClr val="EEF3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1B1F2A"/>
                          </a:solidFill>
                          <a:latin typeface="Calibri"/>
                        </a:rPr>
                        <a:t>Banking / UPI apps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F2A"/>
                          </a:solidFill>
                          <a:latin typeface="Calibri"/>
                        </a:rPr>
                        <a:t>Balances, payments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F2A"/>
                          </a:solidFill>
                          <a:latin typeface="Calibri"/>
                        </a:rPr>
                        <a:t>No invoice, input-credit or deadline context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1B1F2A"/>
                          </a:solidFill>
                          <a:latin typeface="Calibri"/>
                        </a:rPr>
                        <a:t>Monthly CA visit</a:t>
                      </a:r>
                    </a:p>
                  </a:txBody>
                  <a:tcPr marL="73152" marR="73152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F2A"/>
                          </a:solidFill>
                          <a:latin typeface="Calibri"/>
                        </a:rPr>
                        <a:t>Expert filing</a:t>
                      </a:r>
                    </a:p>
                  </a:txBody>
                  <a:tcPr marL="73152" marR="73152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F2A"/>
                          </a:solidFill>
                          <a:latin typeface="Calibri"/>
                        </a:rPr>
                        <a:t>Advice arrives after the due date</a:t>
                      </a:r>
                    </a:p>
                  </a:txBody>
                  <a:tcPr marL="73152" marR="73152" marT="27432" marB="27432" anchor="ctr">
                    <a:solidFill>
                      <a:srgbClr val="EEF3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1" i="0">
                          <a:solidFill>
                            <a:srgbClr val="1B1F2A"/>
                          </a:solidFill>
                          <a:latin typeface="Calibri"/>
                        </a:rPr>
                        <a:t>Reminder apps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F2A"/>
                          </a:solidFill>
                          <a:latin typeface="Calibri"/>
                        </a:rPr>
                        <a:t>Nudges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500" b="0" i="0">
                          <a:solidFill>
                            <a:srgbClr val="1B1F2A"/>
                          </a:solidFill>
                          <a:latin typeface="Calibri"/>
                        </a:rPr>
                        <a:t>No link to ₹ at risk or proof of action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4" name="Rounded Rectangle 63"/>
          <p:cNvSpPr/>
          <p:nvPr/>
        </p:nvSpPr>
        <p:spPr>
          <a:xfrm>
            <a:off x="9144000" y="5897880"/>
            <a:ext cx="8732520" cy="3749039"/>
          </a:xfrm>
          <a:prstGeom prst="roundRect">
            <a:avLst>
              <a:gd name="adj" fmla="val 3414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144000" y="5897880"/>
            <a:ext cx="8732520" cy="530352"/>
          </a:xfrm>
          <a:prstGeom prst="roundRect">
            <a:avLst>
              <a:gd name="adj" fmla="val 24137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9144000" y="6163056"/>
            <a:ext cx="8732520" cy="26517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308592" y="5897880"/>
            <a:ext cx="8403336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Why the problem needs to be solved</a:t>
            </a:r>
          </a:p>
        </p:txBody>
      </p:sp>
      <p:graphicFrame>
        <p:nvGraphicFramePr>
          <p:cNvPr id="68" name="Chart 67"/>
          <p:cNvGraphicFramePr>
            <a:graphicFrameLocks noGrp="1"/>
          </p:cNvGraphicFramePr>
          <p:nvPr/>
        </p:nvGraphicFramePr>
        <p:xfrm>
          <a:off x="9235440" y="6537960"/>
          <a:ext cx="3931920" cy="301752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69" name="Rounded Rectangle 68"/>
          <p:cNvSpPr/>
          <p:nvPr/>
        </p:nvSpPr>
        <p:spPr>
          <a:xfrm>
            <a:off x="13258800" y="6583680"/>
            <a:ext cx="4526280" cy="694944"/>
          </a:xfrm>
          <a:prstGeom prst="roundRect">
            <a:avLst>
              <a:gd name="adj" fmla="val 10526"/>
            </a:avLst>
          </a:prstGeom>
          <a:solidFill>
            <a:srgbClr val="EEF3FA"/>
          </a:solidFill>
          <a:ln w="1270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3277088" y="6583680"/>
            <a:ext cx="1600200" cy="6949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D64545"/>
                </a:solidFill>
                <a:latin typeface="Calibri"/>
              </a:rPr>
              <a:t>₹36,014 cr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4859000" y="6583680"/>
            <a:ext cx="2880360" cy="6949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F2A"/>
                </a:solidFill>
                <a:latin typeface="Calibri"/>
              </a:rPr>
              <a:t>bank fraud, FY25: 23,953 cases [4]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13258800" y="7342631"/>
            <a:ext cx="4526280" cy="694944"/>
          </a:xfrm>
          <a:prstGeom prst="roundRect">
            <a:avLst>
              <a:gd name="adj" fmla="val 10526"/>
            </a:avLst>
          </a:prstGeom>
          <a:solidFill>
            <a:srgbClr val="EEF3FA"/>
          </a:solidFill>
          <a:ln w="1270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277088" y="7342631"/>
            <a:ext cx="1600200" cy="6949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F4E8C"/>
                </a:solidFill>
                <a:latin typeface="Calibri"/>
              </a:rPr>
              <a:t>45 days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859000" y="7342631"/>
            <a:ext cx="2880360" cy="6949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F2A"/>
                </a:solidFill>
                <a:latin typeface="Calibri"/>
              </a:rPr>
              <a:t>legal MSME payment limit since 1 Apr 2024; ₹20.7k cr dues, 85k cases [6]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3258800" y="8101583"/>
            <a:ext cx="4526280" cy="694944"/>
          </a:xfrm>
          <a:prstGeom prst="roundRect">
            <a:avLst>
              <a:gd name="adj" fmla="val 10526"/>
            </a:avLst>
          </a:prstGeom>
          <a:solidFill>
            <a:srgbClr val="EEF3FA"/>
          </a:solidFill>
          <a:ln w="1270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3277088" y="8101583"/>
            <a:ext cx="1600200" cy="6949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F4E8C"/>
                </a:solidFill>
                <a:latin typeface="Calibri"/>
              </a:rPr>
              <a:t>₹22.08 L cr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4859000" y="8101583"/>
            <a:ext cx="2880360" cy="6949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F2A"/>
                </a:solidFill>
                <a:latin typeface="Calibri"/>
              </a:rPr>
              <a:t>gross GST FY25 from 1.51 cr taxpayers on strict deadlines [3]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3258800" y="8860536"/>
            <a:ext cx="4526280" cy="694944"/>
          </a:xfrm>
          <a:prstGeom prst="roundRect">
            <a:avLst>
              <a:gd name="adj" fmla="val 10526"/>
            </a:avLst>
          </a:prstGeom>
          <a:solidFill>
            <a:srgbClr val="EEF3FA"/>
          </a:solidFill>
          <a:ln w="1270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3277088" y="8860536"/>
            <a:ext cx="1600200" cy="6949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000" b="1" i="0">
                <a:solidFill>
                  <a:srgbClr val="1F4E8C"/>
                </a:solidFill>
                <a:latin typeface="Calibri"/>
              </a:rPr>
              <a:t>₹20–25 L cr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4859000" y="8860536"/>
            <a:ext cx="2880360" cy="69494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1B1F2A"/>
                </a:solidFill>
                <a:latin typeface="Calibri"/>
              </a:rPr>
              <a:t>estimated MSME credit gap [11]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11480" y="9692640"/>
            <a:ext cx="1746504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678"/>
                </a:solidFill>
                <a:latin typeface="Calibri"/>
              </a:rPr>
              <a:t>Sources: [1] Min. of MSME AR 2025-26 · [2] PIB MSME Day 2025 · [3] PIB Eight Years of GST · [4] RBI AR 2024-25 · [5] JPMorgan Chase Institute · [6] Income-tax Act s.43B(h), MSME Samadhaan · [11] IFC estimate (as cited). Full list on slide 6.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00100" y="28575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2010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PROPOSED SOLUTION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525257" y="-254881"/>
            <a:ext cx="4086595" cy="1850633"/>
            <a:chOff x="0" y="0"/>
            <a:chExt cx="5448793" cy="24675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462400" y="0"/>
              <a:ext cx="2370232" cy="2370232"/>
            </a:xfrm>
            <a:custGeom>
              <a:avLst/>
              <a:gdLst/>
              <a:ahLst/>
              <a:cxnLst/>
              <a:rect r="r" b="b" t="t" l="l"/>
              <a:pathLst>
                <a:path h="2370232" w="2370232">
                  <a:moveTo>
                    <a:pt x="0" y="0"/>
                  </a:moveTo>
                  <a:lnTo>
                    <a:pt x="2370232" y="0"/>
                  </a:lnTo>
                  <a:lnTo>
                    <a:pt x="2370232" y="2370232"/>
                  </a:lnTo>
                  <a:lnTo>
                    <a:pt x="0" y="2370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1979768"/>
              <a:ext cx="5448793" cy="487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8"/>
                </a:lnSpc>
                <a:spcBef>
                  <a:spcPct val="0"/>
                </a:spcBef>
              </a:pPr>
              <a:r>
                <a:rPr lang="en-US" sz="2170" spc="108">
                  <a:solidFill>
                    <a:srgbClr val="4E3D0A"/>
                  </a:solidFill>
                  <a:latin typeface="Mokoto"/>
                  <a:ea typeface="Mokoto"/>
                  <a:cs typeface="Mokoto"/>
                  <a:sym typeface="Mokoto"/>
                </a:rPr>
                <a:t>ARROWDEV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298393" y="89073"/>
            <a:ext cx="3831492" cy="1593504"/>
            <a:chOff x="0" y="0"/>
            <a:chExt cx="5108655" cy="2124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08694" cy="2124710"/>
            </a:xfrm>
            <a:custGeom>
              <a:avLst/>
              <a:gdLst/>
              <a:ahLst/>
              <a:cxnLst/>
              <a:rect r="r" b="b" t="t" l="l"/>
              <a:pathLst>
                <a:path h="2124710" w="5108694">
                  <a:moveTo>
                    <a:pt x="0" y="0"/>
                  </a:moveTo>
                  <a:lnTo>
                    <a:pt x="5108694" y="0"/>
                  </a:lnTo>
                  <a:lnTo>
                    <a:pt x="5108694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86" r="0" b="-586"/>
              </a:stretch>
            </a:blipFill>
          </p:spPr>
        </p:sp>
      </p:grpSp>
      <p:sp>
        <p:nvSpPr>
          <p:cNvPr id="14" name="Rounded Rectangle 13"/>
          <p:cNvSpPr/>
          <p:nvPr/>
        </p:nvSpPr>
        <p:spPr>
          <a:xfrm>
            <a:off x="411480" y="1828800"/>
            <a:ext cx="6583680" cy="3291840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" y="1828800"/>
            <a:ext cx="6583680" cy="530352"/>
          </a:xfrm>
          <a:prstGeom prst="roundRect">
            <a:avLst>
              <a:gd name="adj" fmla="val 24137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093976"/>
            <a:ext cx="6583680" cy="26517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1828800"/>
            <a:ext cx="6254496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Solution overview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560320"/>
            <a:ext cx="1508760" cy="150876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216" y="2596896"/>
            <a:ext cx="1435608" cy="14356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487168"/>
            <a:ext cx="4709160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650" b="0" i="0">
                <a:solidFill>
                  <a:srgbClr val="1B1F2A"/>
                </a:solidFill>
                <a:latin typeface="Calibri"/>
              </a:rPr>
              <a:t>Mind Your Funds is an AI-assisted finance manager that makes a small business's money visible, safe and rewarding to manage. Deployed as the shared Oxro Labs Finance Desk.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20624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PLAN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24912" y="420624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12A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TRACK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01183" y="4206240"/>
            <a:ext cx="2057400" cy="502920"/>
          </a:xfrm>
          <a:prstGeom prst="roundRect">
            <a:avLst>
              <a:gd name="adj" fmla="val 14545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305E"/>
                </a:solidFill>
                <a:latin typeface="Calibri"/>
              </a:rPr>
              <a:t>GROW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754880"/>
            <a:ext cx="6355080" cy="34747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F4E8C"/>
                </a:solidFill>
                <a:latin typeface="Calibri"/>
              </a:rPr>
              <a:t>4-agent crew: </a:t>
            </a:r>
            <a:r>
              <a:rPr sz="1500" b="0" i="0">
                <a:solidFill>
                  <a:srgbClr val="1B1F2A"/>
                </a:solidFill>
                <a:latin typeface="Calibri"/>
              </a:rPr>
              <a:t>Collector · Treasurer · Sentinel · Scout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1828800"/>
            <a:ext cx="10744200" cy="3291840"/>
          </a:xfrm>
          <a:prstGeom prst="roundRect">
            <a:avLst>
              <a:gd name="adj" fmla="val 3888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132320" y="1828800"/>
            <a:ext cx="10744200" cy="530352"/>
          </a:xfrm>
          <a:prstGeom prst="roundRect">
            <a:avLst>
              <a:gd name="adj" fmla="val 24137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20" y="2093976"/>
            <a:ext cx="10744200" cy="26517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96912" y="1828800"/>
            <a:ext cx="10415016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Key features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69480" y="2487168"/>
            <a:ext cx="2523744" cy="1188720"/>
          </a:xfrm>
          <a:prstGeom prst="roundRect">
            <a:avLst>
              <a:gd name="adj" fmla="val 7692"/>
            </a:avLst>
          </a:prstGeom>
          <a:solidFill>
            <a:srgbClr val="EEF3FA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50" b="1" i="0">
                <a:solidFill>
                  <a:srgbClr val="14305E"/>
                </a:solidFill>
                <a:latin typeface="Calibri"/>
              </a:rPr>
              <a:t>Health score + alerts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B1F2A"/>
                </a:solidFill>
                <a:latin typeface="Calibri"/>
              </a:rPr>
              <a:t>Runway, collections and credit safety in one number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902952" y="2487168"/>
            <a:ext cx="2523744" cy="1188720"/>
          </a:xfrm>
          <a:prstGeom prst="roundRect">
            <a:avLst>
              <a:gd name="adj" fmla="val 7692"/>
            </a:avLst>
          </a:prstGeom>
          <a:solidFill>
            <a:srgbClr val="E6F6F0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50" b="1" i="0">
                <a:solidFill>
                  <a:srgbClr val="14305E"/>
                </a:solidFill>
                <a:latin typeface="Calibri"/>
              </a:rPr>
              <a:t>GST engine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B1F2A"/>
                </a:solidFill>
                <a:latin typeface="Calibri"/>
              </a:rPr>
              <a:t>CGST/SGST/IGST, input credit, GSTR-1/3B calendar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2536424" y="2487168"/>
            <a:ext cx="2523744" cy="1188720"/>
          </a:xfrm>
          <a:prstGeom prst="roundRect">
            <a:avLst>
              <a:gd name="adj" fmla="val 7692"/>
            </a:avLst>
          </a:prstGeom>
          <a:solidFill>
            <a:srgbClr val="EEF3FA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50" b="1" i="0">
                <a:solidFill>
                  <a:srgbClr val="14305E"/>
                </a:solidFill>
                <a:latin typeface="Calibri"/>
              </a:rPr>
              <a:t>Approvals + roles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B1F2A"/>
                </a:solidFill>
                <a:latin typeface="Calibri"/>
              </a:rPr>
              <a:t>Admin, finance, viewer; spend limit enforced in DB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169896" y="2487168"/>
            <a:ext cx="2523744" cy="1188720"/>
          </a:xfrm>
          <a:prstGeom prst="roundRect">
            <a:avLst>
              <a:gd name="adj" fmla="val 7692"/>
            </a:avLst>
          </a:prstGeom>
          <a:solidFill>
            <a:srgbClr val="E6F6F0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50" b="1" i="0">
                <a:solidFill>
                  <a:srgbClr val="14305E"/>
                </a:solidFill>
                <a:latin typeface="Calibri"/>
              </a:rPr>
              <a:t>Bank CSV + recurring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B1F2A"/>
                </a:solidFill>
                <a:latin typeface="Calibri"/>
              </a:rPr>
              <a:t>Auto-match payments; monthly entries on autopilot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69480" y="3767328"/>
            <a:ext cx="2523744" cy="1188720"/>
          </a:xfrm>
          <a:prstGeom prst="roundRect">
            <a:avLst>
              <a:gd name="adj" fmla="val 7692"/>
            </a:avLst>
          </a:prstGeom>
          <a:solidFill>
            <a:srgbClr val="E6F6F0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50" b="1" i="0">
                <a:solidFill>
                  <a:srgbClr val="14305E"/>
                </a:solidFill>
                <a:latin typeface="Calibri"/>
              </a:rPr>
              <a:t>Tamper-evident audit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B1F2A"/>
                </a:solidFill>
                <a:latin typeface="Calibri"/>
              </a:rPr>
              <a:t>Who, what and why in a SHA‑256 chain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902952" y="3767328"/>
            <a:ext cx="2523744" cy="1188720"/>
          </a:xfrm>
          <a:prstGeom prst="roundRect">
            <a:avLst>
              <a:gd name="adj" fmla="val 7692"/>
            </a:avLst>
          </a:prstGeom>
          <a:solidFill>
            <a:srgbClr val="EEF3FA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50" b="1" i="0">
                <a:solidFill>
                  <a:srgbClr val="14305E"/>
                </a:solidFill>
                <a:latin typeface="Calibri"/>
              </a:rPr>
              <a:t>AI CFO (Groq)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B1F2A"/>
                </a:solidFill>
                <a:latin typeface="Calibri"/>
              </a:rPr>
              <a:t>Ask questions on aggregate numbers; stress test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2536424" y="3767328"/>
            <a:ext cx="2523744" cy="1188720"/>
          </a:xfrm>
          <a:prstGeom prst="roundRect">
            <a:avLst>
              <a:gd name="adj" fmla="val 7692"/>
            </a:avLst>
          </a:prstGeom>
          <a:solidFill>
            <a:srgbClr val="E6F6F0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50" b="1" i="0">
                <a:solidFill>
                  <a:srgbClr val="14305E"/>
                </a:solidFill>
                <a:latin typeface="Calibri"/>
              </a:rPr>
              <a:t>Reports + GST invoices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B1F2A"/>
                </a:solidFill>
                <a:latin typeface="Calibri"/>
              </a:rPr>
              <a:t>P&amp;L, aging, top parties, print to PDF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5169896" y="3767328"/>
            <a:ext cx="2523744" cy="1188720"/>
          </a:xfrm>
          <a:prstGeom prst="roundRect">
            <a:avLst>
              <a:gd name="adj" fmla="val 7692"/>
            </a:avLst>
          </a:prstGeom>
          <a:solidFill>
            <a:srgbClr val="EEF3FA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650" b="1" i="0">
                <a:solidFill>
                  <a:srgbClr val="14305E"/>
                </a:solidFill>
                <a:latin typeface="Calibri"/>
              </a:rPr>
              <a:t>XP, streaks, quests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1B1F2A"/>
                </a:solidFill>
                <a:latin typeface="Calibri"/>
              </a:rPr>
              <a:t>Badges, scratch reward, team leaderboard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11480" y="5257800"/>
            <a:ext cx="8503920" cy="4389120"/>
          </a:xfrm>
          <a:prstGeom prst="roundRect">
            <a:avLst>
              <a:gd name="adj" fmla="val 2916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11480" y="5257800"/>
            <a:ext cx="8503920" cy="530352"/>
          </a:xfrm>
          <a:prstGeom prst="roundRect">
            <a:avLst>
              <a:gd name="adj" fmla="val 24137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11480" y="5522976"/>
            <a:ext cx="8503920" cy="26517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76072" y="5257800"/>
            <a:ext cx="8174736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How it addresses the problem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48640" y="5916168"/>
          <a:ext cx="82296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34640"/>
                <a:gridCol w="5394960"/>
              </a:tblGrid>
              <a:tr h="7315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The PS asks</a:t>
                      </a:r>
                    </a:p>
                  </a:txBody>
                  <a:tcPr marL="73152" marR="73152" marT="27432" marB="27432" anchor="ctr">
                    <a:solidFill>
                      <a:srgbClr val="1430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Our answer</a:t>
                      </a:r>
                    </a:p>
                  </a:txBody>
                  <a:tcPr marL="73152" marR="73152" marT="27432" marB="27432" anchor="ctr">
                    <a:solidFill>
                      <a:srgbClr val="14305E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1B1F2A"/>
                          </a:solidFill>
                          <a:latin typeface="Calibri"/>
                        </a:rPr>
                        <a:t>What does the owner most need to know, and when?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0">
                          <a:solidFill>
                            <a:srgbClr val="1B1F2A"/>
                          </a:solidFill>
                          <a:latin typeface="Calibri"/>
                        </a:rPr>
                        <a:t>Daily dashboard: health score, ₹ at risk, next 14 days; alerts ranked by urgency; GST and payroll dues flagged 5 days ahead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1B1F2A"/>
                          </a:solidFill>
                          <a:latin typeface="Calibri"/>
                        </a:rPr>
                        <a:t>How are late payments, missed deadlines and suspicious activity caught?</a:t>
                      </a:r>
                    </a:p>
                  </a:txBody>
                  <a:tcPr marL="73152" marR="73152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0">
                          <a:solidFill>
                            <a:srgbClr val="1B1F2A"/>
                          </a:solidFill>
                          <a:latin typeface="Calibri"/>
                        </a:rPr>
                        <a:t>Collector flags overdue invoices; calendar tracks GSTR-1 (11th) and GSTR-3B (20th) [10]; Sentinel checks duplicates, invalid GSTIN, unusually large bills</a:t>
                      </a:r>
                    </a:p>
                  </a:txBody>
                  <a:tcPr marL="73152" marR="73152" marT="27432" marB="27432" anchor="ctr">
                    <a:solidFill>
                      <a:srgbClr val="EEF3FA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1B1F2A"/>
                          </a:solidFill>
                          <a:latin typeface="Calibri"/>
                        </a:rPr>
                        <a:t>How does the owner stay in control, with a clear record?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0">
                          <a:solidFill>
                            <a:srgbClr val="1B1F2A"/>
                          </a:solidFill>
                          <a:latin typeface="Calibri"/>
                        </a:rPr>
                        <a:t>Roles and approval above a spend limit; one-click actions; every action stored with who, what and why in a SHA‑256 chain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1B1F2A"/>
                          </a:solidFill>
                          <a:latin typeface="Calibri"/>
                        </a:rPr>
                        <a:t>Play layer: surprises hit (late client, big expense, fraud, growth chance)</a:t>
                      </a:r>
                    </a:p>
                  </a:txBody>
                  <a:tcPr marL="73152" marR="73152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0">
                          <a:solidFill>
                            <a:srgbClr val="1B1F2A"/>
                          </a:solidFill>
                          <a:latin typeface="Calibri"/>
                        </a:rPr>
                        <a:t>Practice Lab runs 90 days of shocks; Ghost Twin compares health with and without the crew</a:t>
                      </a:r>
                    </a:p>
                  </a:txBody>
                  <a:tcPr marL="73152" marR="73152" marT="27432" marB="27432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9052560" y="5257800"/>
            <a:ext cx="8823960" cy="4389120"/>
          </a:xfrm>
          <a:prstGeom prst="roundRect">
            <a:avLst>
              <a:gd name="adj" fmla="val 2916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052560" y="5257800"/>
            <a:ext cx="8823960" cy="530352"/>
          </a:xfrm>
          <a:prstGeom prst="roundRect">
            <a:avLst>
              <a:gd name="adj" fmla="val 24137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052560" y="5522976"/>
            <a:ext cx="8823960" cy="26517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17152" y="5257800"/>
            <a:ext cx="8494776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Simple solution workflow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89720" y="5989320"/>
            <a:ext cx="1828800" cy="1280160"/>
          </a:xfrm>
          <a:prstGeom prst="roundRect">
            <a:avLst>
              <a:gd name="adj" fmla="val 7142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1  Capture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3ECFA"/>
                </a:solidFill>
                <a:latin typeface="Calibri"/>
              </a:rPr>
              <a:t>Invoice, bill, payroll, bank CSV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1036808" y="6629400"/>
            <a:ext cx="329184" cy="0"/>
          </a:xfrm>
          <a:prstGeom prst="line">
            <a:avLst/>
          </a:prstGeom>
          <a:ln w="38100">
            <a:solidFill>
              <a:srgbClr val="1430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1384280" y="5989320"/>
            <a:ext cx="1828800" cy="1280160"/>
          </a:xfrm>
          <a:prstGeom prst="roundRect">
            <a:avLst>
              <a:gd name="adj" fmla="val 7142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2  Validate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3ECFA"/>
                </a:solidFill>
                <a:latin typeface="Calibri"/>
              </a:rPr>
              <a:t>GSTIN checksum, CGST/SGST/IGST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13231368" y="6629400"/>
            <a:ext cx="329184" cy="0"/>
          </a:xfrm>
          <a:prstGeom prst="line">
            <a:avLst/>
          </a:prstGeom>
          <a:ln w="38100">
            <a:solidFill>
              <a:srgbClr val="1430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Rounded Rectangle 49"/>
          <p:cNvSpPr/>
          <p:nvPr/>
        </p:nvSpPr>
        <p:spPr>
          <a:xfrm>
            <a:off x="13578840" y="5989320"/>
            <a:ext cx="1828800" cy="1280160"/>
          </a:xfrm>
          <a:prstGeom prst="roundRect">
            <a:avLst>
              <a:gd name="adj" fmla="val 7142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3  Analyse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3ECFA"/>
                </a:solidFill>
                <a:latin typeface="Calibri"/>
              </a:rPr>
              <a:t>Forecast, aging, risk rules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15425928" y="6629400"/>
            <a:ext cx="329184" cy="0"/>
          </a:xfrm>
          <a:prstGeom prst="line">
            <a:avLst/>
          </a:prstGeom>
          <a:ln w="38100">
            <a:solidFill>
              <a:srgbClr val="1430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15773400" y="5989320"/>
            <a:ext cx="1828800" cy="1280160"/>
          </a:xfrm>
          <a:prstGeom prst="roundRect">
            <a:avLst>
              <a:gd name="adj" fmla="val 7142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4  Alert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3ECFA"/>
                </a:solidFill>
                <a:latin typeface="Calibri"/>
              </a:rPr>
              <a:t>Ranked cards with ₹ impact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189720" y="7680960"/>
            <a:ext cx="1828800" cy="1280160"/>
          </a:xfrm>
          <a:prstGeom prst="roundRect">
            <a:avLst>
              <a:gd name="adj" fmla="val 7142"/>
            </a:avLst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5  Decide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3ECFA"/>
                </a:solidFill>
                <a:latin typeface="Calibri"/>
              </a:rPr>
              <a:t>Approve, reject or auto within limit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11036808" y="8321040"/>
            <a:ext cx="329184" cy="0"/>
          </a:xfrm>
          <a:prstGeom prst="line">
            <a:avLst/>
          </a:prstGeom>
          <a:ln w="38100">
            <a:solidFill>
              <a:srgbClr val="1430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ounded Rectangle 54"/>
          <p:cNvSpPr/>
          <p:nvPr/>
        </p:nvSpPr>
        <p:spPr>
          <a:xfrm>
            <a:off x="11384280" y="7680960"/>
            <a:ext cx="1828800" cy="1280160"/>
          </a:xfrm>
          <a:prstGeom prst="roundRect">
            <a:avLst>
              <a:gd name="adj" fmla="val 7142"/>
            </a:avLst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6  Record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3ECFA"/>
                </a:solidFill>
                <a:latin typeface="Calibri"/>
              </a:rPr>
              <a:t>Who, what, why: SHA‑256 chain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3231368" y="8321040"/>
            <a:ext cx="329184" cy="0"/>
          </a:xfrm>
          <a:prstGeom prst="line">
            <a:avLst/>
          </a:prstGeom>
          <a:ln w="38100">
            <a:solidFill>
              <a:srgbClr val="1430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13578840" y="7680960"/>
            <a:ext cx="1828800" cy="1280160"/>
          </a:xfrm>
          <a:prstGeom prst="roundRect">
            <a:avLst>
              <a:gd name="adj" fmla="val 7142"/>
            </a:avLst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7  Reward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3ECFA"/>
                </a:solidFill>
                <a:latin typeface="Calibri"/>
              </a:rPr>
              <a:t>XP, streak, badge, scratch card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5425928" y="8321040"/>
            <a:ext cx="329184" cy="0"/>
          </a:xfrm>
          <a:prstGeom prst="line">
            <a:avLst/>
          </a:prstGeom>
          <a:ln w="38100">
            <a:solidFill>
              <a:srgbClr val="1430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ounded Rectangle 58"/>
          <p:cNvSpPr/>
          <p:nvPr/>
        </p:nvSpPr>
        <p:spPr>
          <a:xfrm>
            <a:off x="15773400" y="7680960"/>
            <a:ext cx="1828800" cy="1280160"/>
          </a:xfrm>
          <a:prstGeom prst="roundRect">
            <a:avLst>
              <a:gd name="adj" fmla="val 7142"/>
            </a:avLst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8  Improve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E3ECFA"/>
                </a:solidFill>
                <a:latin typeface="Calibri"/>
              </a:rPr>
              <a:t>Health score, reports, AI CFO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16687800" y="7269479"/>
            <a:ext cx="0" cy="210313"/>
          </a:xfrm>
          <a:prstGeom prst="line">
            <a:avLst/>
          </a:prstGeom>
          <a:ln w="38100">
            <a:solidFill>
              <a:srgbClr val="1430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H="1">
            <a:off x="10104120" y="7479792"/>
            <a:ext cx="6583680" cy="0"/>
          </a:xfrm>
          <a:prstGeom prst="line">
            <a:avLst/>
          </a:prstGeom>
          <a:ln w="38100">
            <a:solidFill>
              <a:srgbClr val="1430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0104120" y="7479792"/>
            <a:ext cx="0" cy="201168"/>
          </a:xfrm>
          <a:prstGeom prst="line">
            <a:avLst/>
          </a:prstGeom>
          <a:ln w="38100">
            <a:solidFill>
              <a:srgbClr val="1430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ounded Rectangle 62"/>
          <p:cNvSpPr/>
          <p:nvPr/>
        </p:nvSpPr>
        <p:spPr>
          <a:xfrm>
            <a:off x="9189720" y="9125712"/>
            <a:ext cx="8412480" cy="411480"/>
          </a:xfrm>
          <a:prstGeom prst="roundRect">
            <a:avLst>
              <a:gd name="adj" fmla="val 17777"/>
            </a:avLst>
          </a:prstGeom>
          <a:solidFill>
            <a:srgbClr val="FFF6D6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4305E"/>
                </a:solidFill>
                <a:latin typeface="Calibri"/>
              </a:rPr>
              <a:t>Daily loop: check-in → quests → reward → streak → better books tomorrow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11480" y="9692640"/>
            <a:ext cx="1746504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678"/>
                </a:solidFill>
                <a:latin typeface="Calibri"/>
              </a:rPr>
              <a:t>Deadlines per GST portal [10]; rates and dates are planning estimates, verify with a Chartered Accountant. Features shown are built and running in the prototype.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937006" y="271216"/>
            <a:ext cx="11800497" cy="1229218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2010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INNOVATION AND GAMIFICATION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813" r="0" b="-101813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b="true" sz="180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525257" y="-254881"/>
            <a:ext cx="4086595" cy="1850633"/>
            <a:chOff x="0" y="0"/>
            <a:chExt cx="5448793" cy="246751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462400" y="0"/>
              <a:ext cx="2370232" cy="2370232"/>
            </a:xfrm>
            <a:custGeom>
              <a:avLst/>
              <a:gdLst/>
              <a:ahLst/>
              <a:cxnLst/>
              <a:rect r="r" b="b" t="t" l="l"/>
              <a:pathLst>
                <a:path h="2370232" w="2370232">
                  <a:moveTo>
                    <a:pt x="0" y="0"/>
                  </a:moveTo>
                  <a:lnTo>
                    <a:pt x="2370232" y="0"/>
                  </a:lnTo>
                  <a:lnTo>
                    <a:pt x="2370232" y="2370232"/>
                  </a:lnTo>
                  <a:lnTo>
                    <a:pt x="0" y="2370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1979768"/>
              <a:ext cx="5448793" cy="487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8"/>
                </a:lnSpc>
                <a:spcBef>
                  <a:spcPct val="0"/>
                </a:spcBef>
              </a:pPr>
              <a:r>
                <a:rPr lang="en-US" sz="2170" spc="108">
                  <a:solidFill>
                    <a:srgbClr val="4E3D0A"/>
                  </a:solidFill>
                  <a:latin typeface="Mokoto"/>
                  <a:ea typeface="Mokoto"/>
                  <a:cs typeface="Mokoto"/>
                  <a:sym typeface="Mokoto"/>
                </a:rPr>
                <a:t>ARROWDEV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4737502" y="180144"/>
            <a:ext cx="3393539" cy="1411361"/>
            <a:chOff x="0" y="0"/>
            <a:chExt cx="5108655" cy="2124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08694" cy="2124710"/>
            </a:xfrm>
            <a:custGeom>
              <a:avLst/>
              <a:gdLst/>
              <a:ahLst/>
              <a:cxnLst/>
              <a:rect r="r" b="b" t="t" l="l"/>
              <a:pathLst>
                <a:path h="2124710" w="5108694">
                  <a:moveTo>
                    <a:pt x="0" y="0"/>
                  </a:moveTo>
                  <a:lnTo>
                    <a:pt x="5108694" y="0"/>
                  </a:lnTo>
                  <a:lnTo>
                    <a:pt x="5108694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86" r="0" b="-586"/>
              </a:stretch>
            </a:blipFill>
          </p:spPr>
        </p:sp>
      </p:grpSp>
      <p:sp>
        <p:nvSpPr>
          <p:cNvPr id="14" name="Rounded Rectangle 13"/>
          <p:cNvSpPr/>
          <p:nvPr/>
        </p:nvSpPr>
        <p:spPr>
          <a:xfrm>
            <a:off x="411480" y="1828800"/>
            <a:ext cx="8595360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" y="1828800"/>
            <a:ext cx="8595360" cy="530352"/>
          </a:xfrm>
          <a:prstGeom prst="roundRect">
            <a:avLst>
              <a:gd name="adj" fmla="val 24137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093976"/>
            <a:ext cx="8595360" cy="26517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1828800"/>
            <a:ext cx="8266176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What is unique about the solution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" y="2468880"/>
            <a:ext cx="4846320" cy="34290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182880" indent="-18288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650" b="1" i="0">
                <a:solidFill>
                  <a:srgbClr val="1F4E8C"/>
                </a:solidFill>
                <a:latin typeface="Calibri"/>
              </a:rPr>
              <a:t>Ghost Twin: </a:t>
            </a:r>
            <a:r>
              <a:rPr sz="1650" b="0" i="0">
                <a:solidFill>
                  <a:srgbClr val="1B1F2A"/>
                </a:solidFill>
                <a:latin typeface="Calibri"/>
              </a:rPr>
              <a:t>same business, same shocks, crew switched off, so the benefit is measured, not claimed</a:t>
            </a:r>
          </a:p>
          <a:p>
            <a:pPr algn="l" marL="182880" indent="-18288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650" b="1" i="0">
                <a:solidFill>
                  <a:srgbClr val="1F4E8C"/>
                </a:solidFill>
                <a:latin typeface="Calibri"/>
              </a:rPr>
              <a:t>Trust Dial: </a:t>
            </a:r>
            <a:r>
              <a:rPr sz="1650" b="0" i="0">
                <a:solidFill>
                  <a:srgbClr val="1B1F2A"/>
                </a:solidFill>
                <a:latin typeface="Calibri"/>
              </a:rPr>
              <a:t>per-agent autonomy from "ask me" to "auto up to a ₹ cap"</a:t>
            </a:r>
          </a:p>
          <a:p>
            <a:pPr algn="l" marL="182880" indent="-18288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650" b="1" i="0">
                <a:solidFill>
                  <a:srgbClr val="1F4E8C"/>
                </a:solidFill>
                <a:latin typeface="Calibri"/>
              </a:rPr>
              <a:t>Why-Receipts: </a:t>
            </a:r>
            <a:r>
              <a:rPr sz="1650" b="0" i="0">
                <a:solidFill>
                  <a:srgbClr val="1B1F2A"/>
                </a:solidFill>
                <a:latin typeface="Calibri"/>
              </a:rPr>
              <a:t>who, what and why kept in a tamper-evident SHA‑256 chain</a:t>
            </a:r>
          </a:p>
          <a:p>
            <a:pPr algn="l" marL="182880" indent="-18288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650" b="1" i="0">
                <a:solidFill>
                  <a:srgbClr val="1F4E8C"/>
                </a:solidFill>
                <a:latin typeface="Calibri"/>
              </a:rPr>
              <a:t>DB-enforced control: </a:t>
            </a:r>
            <a:r>
              <a:rPr sz="1650" b="0" i="0">
                <a:solidFill>
                  <a:srgbClr val="1B1F2A"/>
                </a:solidFill>
                <a:latin typeface="Calibri"/>
              </a:rPr>
              <a:t>roles and approvals live in RLS and triggers, not just buttons</a:t>
            </a:r>
          </a:p>
          <a:p>
            <a:pPr algn="l" marL="182880" indent="-182880"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sz="1650" b="1" i="0">
                <a:solidFill>
                  <a:srgbClr val="1F4E8C"/>
                </a:solidFill>
                <a:latin typeface="Calibri"/>
              </a:rPr>
              <a:t>Stress test: </a:t>
            </a:r>
            <a:r>
              <a:rPr sz="1650" b="0" i="0">
                <a:solidFill>
                  <a:srgbClr val="1B1F2A"/>
                </a:solidFill>
                <a:latin typeface="Calibri"/>
              </a:rPr>
              <a:t>cash in 30 days if every customer pays late</a:t>
            </a:r>
          </a:p>
        </p:txBody>
      </p:sp>
      <p:graphicFrame>
        <p:nvGraphicFramePr>
          <p:cNvPr id="19" name="Chart 18"/>
          <p:cNvGraphicFramePr>
            <a:graphicFrameLocks noGrp="1"/>
          </p:cNvGraphicFramePr>
          <p:nvPr/>
        </p:nvGraphicFramePr>
        <p:xfrm>
          <a:off x="5394960" y="2468880"/>
          <a:ext cx="3520440" cy="260604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394960" y="5120640"/>
            <a:ext cx="3520440" cy="777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5B6678"/>
                </a:solidFill>
                <a:latin typeface="Calibri"/>
              </a:rPr>
              <a:t>Twin went bankrupt on day 30 (₹25,000 fraud paid). Crew ended with ₹4.73 L cash and blocked ₹70,000 of fraud.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828800"/>
            <a:ext cx="8732520" cy="4114800"/>
          </a:xfrm>
          <a:prstGeom prst="roundRect">
            <a:avLst>
              <a:gd name="adj" fmla="val 3111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44000" y="1828800"/>
            <a:ext cx="8732520" cy="530352"/>
          </a:xfrm>
          <a:prstGeom prst="roundRect">
            <a:avLst>
              <a:gd name="adj" fmla="val 24137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2093976"/>
            <a:ext cx="8732520" cy="26517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08592" y="1828800"/>
            <a:ext cx="8403336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Gamification elements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9235440" y="2468880"/>
          <a:ext cx="4023360" cy="338328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6" name="Rectangle 25"/>
          <p:cNvSpPr/>
          <p:nvPr/>
        </p:nvSpPr>
        <p:spPr>
          <a:xfrm>
            <a:off x="13487400" y="4297680"/>
            <a:ext cx="548640" cy="457200"/>
          </a:xfrm>
          <a:prstGeom prst="rect">
            <a:avLst/>
          </a:prstGeom>
          <a:solidFill>
            <a:srgbClr val="C9D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4297680"/>
            <a:ext cx="548640" cy="45720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4090904" y="4069080"/>
            <a:ext cx="548640" cy="685800"/>
          </a:xfrm>
          <a:prstGeom prst="rect">
            <a:avLst/>
          </a:prstGeom>
          <a:solidFill>
            <a:srgbClr val="9FB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0904" y="4069080"/>
            <a:ext cx="548640" cy="68580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4694408" y="3840480"/>
            <a:ext cx="548640" cy="914400"/>
          </a:xfrm>
          <a:prstGeom prst="rect">
            <a:avLst/>
          </a:prstGeom>
          <a:solidFill>
            <a:srgbClr val="7DA0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94408" y="3840480"/>
            <a:ext cx="548640" cy="91440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5297912" y="3611880"/>
            <a:ext cx="548640" cy="11430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297912" y="3611880"/>
            <a:ext cx="548640" cy="114300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5901416" y="3383280"/>
            <a:ext cx="548640" cy="137160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901416" y="3383280"/>
            <a:ext cx="548640" cy="137160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6504920" y="3154680"/>
            <a:ext cx="548640" cy="1600200"/>
          </a:xfrm>
          <a:prstGeom prst="rect">
            <a:avLst/>
          </a:prstGeom>
          <a:solidFill>
            <a:srgbClr val="143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6504920" y="3154680"/>
            <a:ext cx="548640" cy="160020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7108424" y="2926080"/>
            <a:ext cx="548640" cy="182880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7108424" y="2926080"/>
            <a:ext cx="548640" cy="1828800"/>
          </a:xfrm>
          <a:prstGeom prst="rect">
            <a:avLst/>
          </a:prstGeom>
          <a:noFill/>
        </p:spPr>
        <p:txBody>
          <a:bodyPr wrap="square" lIns="0" rIns="0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4305E"/>
                </a:solidFill>
                <a:latin typeface="Calibri"/>
              </a:rP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441680" y="4800600"/>
            <a:ext cx="4343400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678"/>
                </a:solidFill>
                <a:latin typeface="Calibri"/>
              </a:rPr>
              <a:t>Levels 1→7: Starter, Tracker, Planner, Controller, Strategist, Finance Lead, CFO (0 → 2,400 XP)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3487400" y="5285231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FFF6D6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05E"/>
                </a:solidFill>
                <a:latin typeface="Calibri"/>
              </a:rPr>
              <a:t>Daily streaks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4923008" y="5285231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FFF6D6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05E"/>
                </a:solidFill>
                <a:latin typeface="Calibri"/>
              </a:rPr>
              <a:t>4 daily quests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6358616" y="5285231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FFF6D6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05E"/>
                </a:solidFill>
                <a:latin typeface="Calibri"/>
              </a:rPr>
              <a:t>11 badges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3487400" y="5614416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FFF6D6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05E"/>
                </a:solidFill>
                <a:latin typeface="Calibri"/>
              </a:rPr>
              <a:t>Goal ring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4923008" y="5614416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FFF6D6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05E"/>
                </a:solidFill>
                <a:latin typeface="Calibri"/>
              </a:rPr>
              <a:t>Scratch reward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6358616" y="5614416"/>
            <a:ext cx="1371600" cy="292608"/>
          </a:xfrm>
          <a:prstGeom prst="roundRect">
            <a:avLst>
              <a:gd name="adj" fmla="val 25000"/>
            </a:avLst>
          </a:prstGeom>
          <a:solidFill>
            <a:srgbClr val="FFF6D6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4305E"/>
                </a:solidFill>
                <a:latin typeface="Calibri"/>
              </a:rPr>
              <a:t>Team leaderboard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1480" y="6080760"/>
            <a:ext cx="8595360" cy="3566160"/>
          </a:xfrm>
          <a:prstGeom prst="roundRect">
            <a:avLst>
              <a:gd name="adj" fmla="val 3589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11480" y="6080760"/>
            <a:ext cx="8595360" cy="530352"/>
          </a:xfrm>
          <a:prstGeom prst="roundRect">
            <a:avLst>
              <a:gd name="adj" fmla="val 24137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11480" y="6345936"/>
            <a:ext cx="8595360" cy="26517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" y="6080760"/>
            <a:ext cx="8266176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Why the gamified approach is effective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66928" y="6812280"/>
            <a:ext cx="2057400" cy="1234440"/>
          </a:xfrm>
          <a:prstGeom prst="roundRect">
            <a:avLst>
              <a:gd name="adj" fmla="val 7407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Trigger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0" i="0">
                <a:solidFill>
                  <a:srgbClr val="E3ECFA"/>
                </a:solidFill>
                <a:latin typeface="Calibri"/>
              </a:rPr>
              <a:t>alert, story card, streak at risk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852928" y="6812280"/>
            <a:ext cx="2057400" cy="1234440"/>
          </a:xfrm>
          <a:prstGeom prst="roundRect">
            <a:avLst>
              <a:gd name="adj" fmla="val 7407"/>
            </a:avLst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Action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0" i="0">
                <a:solidFill>
                  <a:srgbClr val="E3ECFA"/>
                </a:solidFill>
                <a:latin typeface="Calibri"/>
              </a:rPr>
              <a:t>collect, pay, file, log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8" y="8321040"/>
            <a:ext cx="2057400" cy="1234440"/>
          </a:xfrm>
          <a:prstGeom prst="roundRect">
            <a:avLst>
              <a:gd name="adj" fmla="val 7407"/>
            </a:avLst>
          </a:prstGeom>
          <a:solidFill>
            <a:srgbClr val="143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Investment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0" i="0">
                <a:solidFill>
                  <a:srgbClr val="E3ECFA"/>
                </a:solidFill>
                <a:latin typeface="Calibri"/>
              </a:rPr>
              <a:t>streak, goal ring, history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852928" y="8321040"/>
            <a:ext cx="2057400" cy="1234440"/>
          </a:xfrm>
          <a:prstGeom prst="roundRect">
            <a:avLst>
              <a:gd name="adj" fmla="val 7407"/>
            </a:avLst>
          </a:prstGeom>
          <a:solidFill>
            <a:srgbClr val="12A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Reward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350" b="0" i="0">
                <a:solidFill>
                  <a:srgbClr val="E3ECFA"/>
                </a:solidFill>
                <a:latin typeface="Calibri"/>
              </a:rPr>
              <a:t>XP, scratch card, badge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2651760" y="7424927"/>
            <a:ext cx="182880" cy="0"/>
          </a:xfrm>
          <a:prstGeom prst="line">
            <a:avLst/>
          </a:prstGeom>
          <a:ln w="41275">
            <a:solidFill>
              <a:srgbClr val="1430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3886200" y="8065008"/>
            <a:ext cx="0" cy="237744"/>
          </a:xfrm>
          <a:prstGeom prst="line">
            <a:avLst/>
          </a:prstGeom>
          <a:ln w="41275">
            <a:solidFill>
              <a:srgbClr val="1430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2651760" y="8933688"/>
            <a:ext cx="182880" cy="0"/>
          </a:xfrm>
          <a:prstGeom prst="line">
            <a:avLst/>
          </a:prstGeom>
          <a:ln w="41275">
            <a:solidFill>
              <a:srgbClr val="1430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1600200" y="8065008"/>
            <a:ext cx="0" cy="237744"/>
          </a:xfrm>
          <a:prstGeom prst="line">
            <a:avLst/>
          </a:prstGeom>
          <a:ln w="41275">
            <a:solidFill>
              <a:srgbClr val="1430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5029200" y="6766560"/>
            <a:ext cx="3886200" cy="2834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182880" indent="-18288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B1F2A"/>
                </a:solidFill>
                <a:latin typeface="Calibri"/>
              </a:rPr>
              <a:t>Points reward outcomes (on-time collection and filing), never screen time</a:t>
            </a:r>
          </a:p>
          <a:p>
            <a:pPr algn="l" marL="182880" indent="-18288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B1F2A"/>
                </a:solidFill>
                <a:latin typeface="Calibri"/>
              </a:rPr>
              <a:t>Variable reward (scratch card) and streaks build the daily habit that keeps the books current</a:t>
            </a:r>
          </a:p>
          <a:p>
            <a:pPr algn="l" marL="182880" indent="-182880">
              <a:spcBef>
                <a:spcPts val="0"/>
              </a:spcBef>
              <a:spcAft>
                <a:spcPts val="800"/>
              </a:spcAft>
              <a:buFont typeface="Arial"/>
              <a:buChar char="•"/>
            </a:pPr>
            <a:r>
              <a:rPr sz="1600" b="0" i="0">
                <a:solidFill>
                  <a:srgbClr val="1B1F2A"/>
                </a:solidFill>
                <a:latin typeface="Calibri"/>
              </a:rPr>
              <a:t>Evidence: most empirical studies reviewed by Hamari et al. (2014) report positive effects of gamification [7]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144000" y="6080760"/>
            <a:ext cx="8732520" cy="3566160"/>
          </a:xfrm>
          <a:prstGeom prst="roundRect">
            <a:avLst>
              <a:gd name="adj" fmla="val 3589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144000" y="6080760"/>
            <a:ext cx="8732520" cy="530352"/>
          </a:xfrm>
          <a:prstGeom prst="roundRect">
            <a:avLst>
              <a:gd name="adj" fmla="val 24137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44000" y="6345936"/>
            <a:ext cx="8732520" cy="26517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308592" y="6080760"/>
            <a:ext cx="8403336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Differentiation from existing solutions</a:t>
            </a:r>
          </a:p>
        </p:txBody>
      </p:sp>
      <p:graphicFrame>
        <p:nvGraphicFramePr>
          <p:cNvPr id="64" name="Table 63"/>
          <p:cNvGraphicFramePr>
            <a:graphicFrameLocks noGrp="1"/>
          </p:cNvGraphicFramePr>
          <p:nvPr/>
        </p:nvGraphicFramePr>
        <p:xfrm>
          <a:off x="9281160" y="6766560"/>
          <a:ext cx="8458200" cy="28163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926080"/>
                <a:gridCol w="1188720"/>
                <a:gridCol w="1600200"/>
                <a:gridCol w="1371600"/>
                <a:gridCol w="1371600"/>
              </a:tblGrid>
              <a:tr h="4023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Capability</a:t>
                      </a:r>
                    </a:p>
                  </a:txBody>
                  <a:tcPr marL="73152" marR="73152" marT="27432" marB="27432" anchor="ctr">
                    <a:solidFill>
                      <a:srgbClr val="1430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Sheets</a:t>
                      </a:r>
                    </a:p>
                  </a:txBody>
                  <a:tcPr marL="73152" marR="73152" marT="27432" marB="27432" anchor="ctr">
                    <a:solidFill>
                      <a:srgbClr val="1430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Accounting apps</a:t>
                      </a:r>
                    </a:p>
                  </a:txBody>
                  <a:tcPr marL="73152" marR="73152" marT="27432" marB="27432" anchor="ctr">
                    <a:solidFill>
                      <a:srgbClr val="1430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Banking apps</a:t>
                      </a:r>
                    </a:p>
                  </a:txBody>
                  <a:tcPr marL="73152" marR="73152" marT="27432" marB="27432" anchor="ctr">
                    <a:solidFill>
                      <a:srgbClr val="14305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FFFFFF"/>
                          </a:solidFill>
                          <a:latin typeface="Calibri"/>
                        </a:rPr>
                        <a:t>This solution</a:t>
                      </a:r>
                    </a:p>
                  </a:txBody>
                  <a:tcPr marL="73152" marR="73152" marT="27432" marB="27432" anchor="ctr">
                    <a:solidFill>
                      <a:srgbClr val="14305E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1B1F2A"/>
                          </a:solidFill>
                          <a:latin typeface="Calibri"/>
                        </a:rPr>
                        <a:t>Proactive risk alerts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0">
                          <a:solidFill>
                            <a:srgbClr val="D6454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0">
                          <a:solidFill>
                            <a:srgbClr val="8A6A00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73152"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0">
                          <a:solidFill>
                            <a:srgbClr val="8A6A00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73152"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0B6B4E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E6F6F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1B1F2A"/>
                          </a:solidFill>
                          <a:latin typeface="Calibri"/>
                        </a:rPr>
                        <a:t>GST credit check + filing calendar</a:t>
                      </a:r>
                    </a:p>
                  </a:txBody>
                  <a:tcPr marL="73152" marR="73152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0">
                          <a:solidFill>
                            <a:srgbClr val="D6454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0">
                          <a:solidFill>
                            <a:srgbClr val="8A6A00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73152"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0">
                          <a:solidFill>
                            <a:srgbClr val="D6454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0B6B4E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E6F6F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1B1F2A"/>
                          </a:solidFill>
                          <a:latin typeface="Calibri"/>
                        </a:rPr>
                        <a:t>Approval workflow with roles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0">
                          <a:solidFill>
                            <a:srgbClr val="D6454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0">
                          <a:solidFill>
                            <a:srgbClr val="8A6A00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73152"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0">
                          <a:solidFill>
                            <a:srgbClr val="D6454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0B6B4E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E6F6F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1B1F2A"/>
                          </a:solidFill>
                          <a:latin typeface="Calibri"/>
                        </a:rPr>
                        <a:t>Tamper-evident audit with reasons</a:t>
                      </a:r>
                    </a:p>
                  </a:txBody>
                  <a:tcPr marL="73152" marR="73152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0">
                          <a:solidFill>
                            <a:srgbClr val="D6454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0">
                          <a:solidFill>
                            <a:srgbClr val="D6454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0">
                          <a:solidFill>
                            <a:srgbClr val="D6454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0B6B4E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E6F6F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1B1F2A"/>
                          </a:solidFill>
                          <a:latin typeface="Calibri"/>
                        </a:rPr>
                        <a:t>Habit loop (XP, streaks, rewards)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0">
                          <a:solidFill>
                            <a:srgbClr val="D6454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0">
                          <a:solidFill>
                            <a:srgbClr val="D6454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0">
                          <a:solidFill>
                            <a:srgbClr val="8A6A00"/>
                          </a:solidFill>
                          <a:latin typeface="Calibri"/>
                        </a:rPr>
                        <a:t>Partly</a:t>
                      </a:r>
                    </a:p>
                  </a:txBody>
                  <a:tcPr marL="73152" marR="73152" marT="27432" marB="27432" anchor="ctr">
                    <a:solidFill>
                      <a:srgbClr val="FFF6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0B6B4E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E6F6F0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1B1F2A"/>
                          </a:solidFill>
                          <a:latin typeface="Calibri"/>
                        </a:rPr>
                        <a:t>Proof of benefit (Ghost Twin)</a:t>
                      </a:r>
                    </a:p>
                  </a:txBody>
                  <a:tcPr marL="73152" marR="73152" marT="27432" marB="27432" anchor="ctr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0">
                          <a:solidFill>
                            <a:srgbClr val="D6454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0">
                          <a:solidFill>
                            <a:srgbClr val="D6454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0" i="0">
                          <a:solidFill>
                            <a:srgbClr val="D64545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73152" marR="73152" marT="27432" marB="27432" anchor="ctr">
                    <a:solidFill>
                      <a:srgbClr val="FBE9E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50" b="1" i="0">
                          <a:solidFill>
                            <a:srgbClr val="0B6B4E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marL="73152" marR="73152" marT="27432" marB="27432" anchor="ctr">
                    <a:solidFill>
                      <a:srgbClr val="E6F6F0"/>
                    </a:solidFill>
                  </a:tcPr>
                </a:tc>
              </a:tr>
            </a:tbl>
          </a:graphicData>
        </a:graphic>
      </p:graphicFrame>
      <p:sp>
        <p:nvSpPr>
          <p:cNvPr id="65" name="TextBox 64"/>
          <p:cNvSpPr txBox="1"/>
          <p:nvPr/>
        </p:nvSpPr>
        <p:spPr>
          <a:xfrm>
            <a:off x="411480" y="9692640"/>
            <a:ext cx="1746504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678"/>
                </a:solidFill>
                <a:latin typeface="Calibri"/>
              </a:rPr>
              <a:t>Simulation: seed 42, engine in repo (crew accepts recommended action). XP values from the prototype. Comparison generalises typical tool categories. Ref [7]: Hamari, Koivisto &amp; Sarsa, HICSS-47 (2014).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37146" y="75414"/>
            <a:ext cx="13600642" cy="1416733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b="true" sz="5400">
                  <a:solidFill>
                    <a:srgbClr val="02010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TECHNOLOGY AND IMPLEMENTATION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541448" y="-60646"/>
            <a:ext cx="3140296" cy="1422097"/>
            <a:chOff x="0" y="0"/>
            <a:chExt cx="4187061" cy="189613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123764" y="0"/>
              <a:ext cx="1821377" cy="1821377"/>
            </a:xfrm>
            <a:custGeom>
              <a:avLst/>
              <a:gdLst/>
              <a:ahLst/>
              <a:cxnLst/>
              <a:rect r="r" b="b" t="t" l="l"/>
              <a:pathLst>
                <a:path h="1821377" w="1821377">
                  <a:moveTo>
                    <a:pt x="0" y="0"/>
                  </a:moveTo>
                  <a:lnTo>
                    <a:pt x="1821377" y="0"/>
                  </a:lnTo>
                  <a:lnTo>
                    <a:pt x="1821377" y="1821377"/>
                  </a:lnTo>
                  <a:lnTo>
                    <a:pt x="0" y="18213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1519826"/>
              <a:ext cx="4187061" cy="3763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34"/>
                </a:lnSpc>
                <a:spcBef>
                  <a:spcPct val="0"/>
                </a:spcBef>
              </a:pPr>
              <a:r>
                <a:rPr lang="en-US" sz="1667" spc="83">
                  <a:solidFill>
                    <a:srgbClr val="4E3D0A"/>
                  </a:solidFill>
                  <a:latin typeface="Mokoto"/>
                  <a:ea typeface="Mokoto"/>
                  <a:cs typeface="Mokoto"/>
                  <a:sym typeface="Mokoto"/>
                </a:rPr>
                <a:t>ARROWDEV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671112" y="178621"/>
            <a:ext cx="2529794" cy="1052133"/>
            <a:chOff x="0" y="0"/>
            <a:chExt cx="5108655" cy="212467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108694" cy="2124710"/>
            </a:xfrm>
            <a:custGeom>
              <a:avLst/>
              <a:gdLst/>
              <a:ahLst/>
              <a:cxnLst/>
              <a:rect r="r" b="b" t="t" l="l"/>
              <a:pathLst>
                <a:path h="2124710" w="5108694">
                  <a:moveTo>
                    <a:pt x="0" y="0"/>
                  </a:moveTo>
                  <a:lnTo>
                    <a:pt x="5108694" y="0"/>
                  </a:lnTo>
                  <a:lnTo>
                    <a:pt x="5108694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86" r="0" b="-586"/>
              </a:stretch>
            </a:blipFill>
          </p:spPr>
        </p:sp>
      </p:grpSp>
      <p:sp>
        <p:nvSpPr>
          <p:cNvPr id="14" name="Rounded Rectangle 13"/>
          <p:cNvSpPr/>
          <p:nvPr/>
        </p:nvSpPr>
        <p:spPr>
          <a:xfrm>
            <a:off x="411480" y="1828800"/>
            <a:ext cx="17465040" cy="2697480"/>
          </a:xfrm>
          <a:prstGeom prst="roundRect">
            <a:avLst>
              <a:gd name="adj" fmla="val 4745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11480" y="1828800"/>
            <a:ext cx="17465040" cy="530352"/>
          </a:xfrm>
          <a:prstGeom prst="roundRect">
            <a:avLst>
              <a:gd name="adj" fmla="val 24137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2093976"/>
            <a:ext cx="17465040" cy="26517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1828800"/>
            <a:ext cx="17135856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Tech stack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487168"/>
            <a:ext cx="2788920" cy="1920240"/>
          </a:xfrm>
          <a:prstGeom prst="roundRect">
            <a:avLst>
              <a:gd name="adj" fmla="val 4761"/>
            </a:avLst>
          </a:prstGeom>
          <a:solidFill>
            <a:srgbClr val="EEF3FA"/>
          </a:solidFill>
          <a:ln w="1270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2487168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715768"/>
            <a:ext cx="2788920" cy="228600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487168"/>
            <a:ext cx="278892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50" b="1" i="0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017520"/>
            <a:ext cx="2697480" cy="1371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HTML5 · CSS3 · JS (ES modules)</a:t>
            </a:r>
          </a:p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SVG + Canvas charts</a:t>
            </a:r>
          </a:p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PWA + service worker</a:t>
            </a:r>
          </a:p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No framework, no build step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47288" y="2487168"/>
            <a:ext cx="2788920" cy="1920240"/>
          </a:xfrm>
          <a:prstGeom prst="roundRect">
            <a:avLst>
              <a:gd name="adj" fmla="val 4761"/>
            </a:avLst>
          </a:prstGeom>
          <a:solidFill>
            <a:srgbClr val="EEF3FA"/>
          </a:solidFill>
          <a:ln w="1270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47288" y="2487168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12A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447288" y="2715768"/>
            <a:ext cx="2788920" cy="228600"/>
          </a:xfrm>
          <a:prstGeom prst="rect">
            <a:avLst/>
          </a:prstGeom>
          <a:solidFill>
            <a:srgbClr val="12A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47288" y="2487168"/>
            <a:ext cx="278892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50" b="1" i="0">
                <a:solidFill>
                  <a:srgbClr val="FFFFFF"/>
                </a:solidFill>
                <a:latin typeface="Calibri"/>
              </a:rPr>
              <a:t>Data &amp; Auth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93008" y="3017520"/>
            <a:ext cx="2697480" cy="1371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Supabase PostgreSQL</a:t>
            </a:r>
          </a:p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Auth: email / magic link</a:t>
            </a:r>
          </a:p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Row-Level Security [8]</a:t>
            </a:r>
          </a:p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Realtime + SQL migrations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45936" y="2487168"/>
            <a:ext cx="2788920" cy="1920240"/>
          </a:xfrm>
          <a:prstGeom prst="roundRect">
            <a:avLst>
              <a:gd name="adj" fmla="val 4761"/>
            </a:avLst>
          </a:prstGeom>
          <a:solidFill>
            <a:srgbClr val="EEF3FA"/>
          </a:solidFill>
          <a:ln w="1270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345936" y="2487168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45936" y="2715768"/>
            <a:ext cx="2788920" cy="228600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45936" y="2487168"/>
            <a:ext cx="278892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50" b="1" i="0">
                <a:solidFill>
                  <a:srgbClr val="FFFFFF"/>
                </a:solidFill>
                <a:latin typeface="Calibri"/>
              </a:rPr>
              <a:t>Business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91655" y="3017520"/>
            <a:ext cx="2697480" cy="1371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GST: CGST/SGST/IGST, ITC</a:t>
            </a:r>
          </a:p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GSTIN checksum validator</a:t>
            </a:r>
          </a:p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Forecast, aging, alerts</a:t>
            </a:r>
          </a:p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XP, quests, bank CSV parser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44584" y="2487168"/>
            <a:ext cx="2788920" cy="1920240"/>
          </a:xfrm>
          <a:prstGeom prst="roundRect">
            <a:avLst>
              <a:gd name="adj" fmla="val 4761"/>
            </a:avLst>
          </a:prstGeom>
          <a:solidFill>
            <a:srgbClr val="EEF3FA"/>
          </a:solidFill>
          <a:ln w="1270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244584" y="2487168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44584" y="2715768"/>
            <a:ext cx="2788920" cy="22860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44584" y="2487168"/>
            <a:ext cx="278892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50" b="1" i="0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90304" y="3017520"/>
            <a:ext cx="2697480" cy="1371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Groq API (Llama, GPT-OSS) [9]</a:t>
            </a:r>
          </a:p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Netlify Function proxy</a:t>
            </a:r>
          </a:p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Model + template fallback</a:t>
            </a:r>
          </a:p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Aggregate numbers only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143232" y="2487168"/>
            <a:ext cx="2788920" cy="1920240"/>
          </a:xfrm>
          <a:prstGeom prst="roundRect">
            <a:avLst>
              <a:gd name="adj" fmla="val 4761"/>
            </a:avLst>
          </a:prstGeom>
          <a:solidFill>
            <a:srgbClr val="EEF3FA"/>
          </a:solidFill>
          <a:ln w="1270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2143232" y="2487168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2143232" y="2715768"/>
            <a:ext cx="2788920" cy="228600"/>
          </a:xfrm>
          <a:prstGeom prst="rect">
            <a:avLst/>
          </a:prstGeom>
          <a:solidFill>
            <a:srgbClr val="D64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143232" y="2487168"/>
            <a:ext cx="278892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50" b="1" i="0">
                <a:solidFill>
                  <a:srgbClr val="FFFFFF"/>
                </a:solidFill>
                <a:latin typeface="Calibri"/>
              </a:rPr>
              <a:t>Trust &amp; security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88952" y="3017520"/>
            <a:ext cx="2697480" cy="1371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SHA‑256 hash-chained log</a:t>
            </a:r>
          </a:p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Org roles enforced in DB</a:t>
            </a:r>
          </a:p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Domain-locked invites</a:t>
            </a:r>
          </a:p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No secrets in the browser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041880" y="2487168"/>
            <a:ext cx="2788920" cy="1920240"/>
          </a:xfrm>
          <a:prstGeom prst="roundRect">
            <a:avLst>
              <a:gd name="adj" fmla="val 4761"/>
            </a:avLst>
          </a:prstGeom>
          <a:solidFill>
            <a:srgbClr val="EEF3FA"/>
          </a:solidFill>
          <a:ln w="1270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5041880" y="2487168"/>
            <a:ext cx="2788920" cy="457200"/>
          </a:xfrm>
          <a:prstGeom prst="roundRect">
            <a:avLst>
              <a:gd name="adj" fmla="val 20000"/>
            </a:avLst>
          </a:prstGeom>
          <a:solidFill>
            <a:srgbClr val="143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5041880" y="2715768"/>
            <a:ext cx="2788920" cy="228600"/>
          </a:xfrm>
          <a:prstGeom prst="rect">
            <a:avLst/>
          </a:prstGeom>
          <a:solidFill>
            <a:srgbClr val="143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5041880" y="2487168"/>
            <a:ext cx="2788920" cy="4572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50" b="1" i="0">
                <a:solidFill>
                  <a:srgbClr val="FFFFFF"/>
                </a:solidFill>
                <a:latin typeface="Calibri"/>
              </a:rPr>
              <a:t>DevOps &amp; QA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087600" y="3017520"/>
            <a:ext cx="2697480" cy="1371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Netlify hosting + functions</a:t>
            </a:r>
          </a:p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Supabase CLI migrations</a:t>
            </a:r>
          </a:p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Node self-check suite</a:t>
            </a:r>
          </a:p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Playwright screenshots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11480" y="4617720"/>
            <a:ext cx="7863840" cy="5029200"/>
          </a:xfrm>
          <a:prstGeom prst="roundRect">
            <a:avLst>
              <a:gd name="adj" fmla="val 2545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411480" y="4617720"/>
            <a:ext cx="7863840" cy="530352"/>
          </a:xfrm>
          <a:prstGeom prst="roundRect">
            <a:avLst>
              <a:gd name="adj" fmla="val 24137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11480" y="4882896"/>
            <a:ext cx="7863840" cy="26517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76072" y="4617720"/>
            <a:ext cx="7534656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System architecture / workflow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5303520"/>
            <a:ext cx="3246120" cy="4251960"/>
          </a:xfrm>
          <a:prstGeom prst="roundRect">
            <a:avLst>
              <a:gd name="adj" fmla="val 3380"/>
            </a:avLst>
          </a:prstGeom>
          <a:solidFill>
            <a:srgbClr val="E8F0FC"/>
          </a:solidFill>
          <a:ln w="19050">
            <a:solidFill>
              <a:srgbClr val="2F6F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4360" y="5330952"/>
            <a:ext cx="315468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1F4E8C"/>
                </a:solidFill>
                <a:latin typeface="Calibri"/>
              </a:rPr>
              <a:t>Browser · PWA Finance Desk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" y="5760720"/>
            <a:ext cx="3026664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14305E"/>
                </a:solidFill>
                <a:latin typeface="Calibri"/>
              </a:rPr>
              <a:t>Views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0" i="0">
                <a:solidFill>
                  <a:srgbClr val="1B1F2A"/>
                </a:solidFill>
                <a:latin typeface="Calibri"/>
              </a:rPr>
              <a:t>Dashboard · Transactions · Approvals · Reports · Rewards · Audit · Team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8368" y="7022592"/>
            <a:ext cx="3026664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14305E"/>
                </a:solidFill>
                <a:latin typeface="Calibri"/>
              </a:rPr>
              <a:t>Engine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0" i="0">
                <a:solidFill>
                  <a:srgbClr val="1B1F2A"/>
                </a:solidFill>
                <a:latin typeface="Calibri"/>
              </a:rPr>
              <a:t>calc · gst · gamify · reports · bank · recurring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58368" y="8284463"/>
            <a:ext cx="3026664" cy="11887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550" b="1" i="0">
                <a:solidFill>
                  <a:srgbClr val="14305E"/>
                </a:solidFill>
                <a:latin typeface="Calibri"/>
              </a:rPr>
              <a:t>Repo layer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50" b="0" i="0">
                <a:solidFill>
                  <a:srgbClr val="1B1F2A"/>
                </a:solidFill>
                <a:latin typeface="Calibri"/>
              </a:rPr>
              <a:t>cloud (Supabase) or demo (browser storage)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663440" y="5303520"/>
            <a:ext cx="3474720" cy="3017520"/>
          </a:xfrm>
          <a:prstGeom prst="roundRect">
            <a:avLst>
              <a:gd name="adj" fmla="val 3636"/>
            </a:avLst>
          </a:prstGeom>
          <a:solidFill>
            <a:srgbClr val="E6F6F0"/>
          </a:solidFill>
          <a:ln w="19050">
            <a:solidFill>
              <a:srgbClr val="12A3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09160" y="5330952"/>
            <a:ext cx="3383280" cy="384048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50" b="1" i="0">
                <a:solidFill>
                  <a:srgbClr val="0B6B4E"/>
                </a:solidFill>
                <a:latin typeface="Calibri"/>
              </a:rPr>
              <a:t>Supabase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773168" y="5760720"/>
            <a:ext cx="3255264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305E"/>
                </a:solidFill>
                <a:latin typeface="Calibri"/>
              </a:rPr>
              <a:t>Auth (JWT)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773168" y="6400800"/>
            <a:ext cx="3255264" cy="1097280"/>
          </a:xfrm>
          <a:prstGeom prst="roundRect">
            <a:avLst>
              <a:gd name="adj" fmla="val 6666"/>
            </a:avLst>
          </a:prstGeom>
          <a:solidFill>
            <a:srgbClr val="FFFFFF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305E"/>
                </a:solidFill>
                <a:latin typeface="Calibri"/>
              </a:rPr>
              <a:t>Postgres + RLS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1F2A"/>
                </a:solidFill>
                <a:latin typeface="Calibri"/>
              </a:rPr>
              <a:t>orgs · members · entries · parties · filings · xp · activity_log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773168" y="7589520"/>
            <a:ext cx="3255264" cy="64008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4305E"/>
                </a:solidFill>
                <a:latin typeface="Calibri"/>
              </a:rPr>
              <a:t>Realtime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1F2A"/>
                </a:solidFill>
                <a:latin typeface="Calibri"/>
              </a:rPr>
              <a:t>live sync across devices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663440" y="84582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FFF6D6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305E"/>
                </a:solidFill>
                <a:latin typeface="Calibri"/>
              </a:rPr>
              <a:t>Netlify Function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1F2A"/>
                </a:solidFill>
                <a:latin typeface="Calibri"/>
              </a:rPr>
              <a:t>/api/groq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92240" y="8458200"/>
            <a:ext cx="1645920" cy="1097280"/>
          </a:xfrm>
          <a:prstGeom prst="roundRect">
            <a:avLst>
              <a:gd name="adj" fmla="val 8333"/>
            </a:avLst>
          </a:prstGeom>
          <a:solidFill>
            <a:srgbClr val="FFF6D6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4305E"/>
                </a:solidFill>
                <a:latin typeface="Calibri"/>
              </a:rPr>
              <a:t>Groq API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B1F2A"/>
                </a:solidFill>
                <a:latin typeface="Calibri"/>
              </a:rPr>
              <a:t>Llama · GPT-OSS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3794760" y="6766560"/>
            <a:ext cx="868680" cy="0"/>
          </a:xfrm>
          <a:prstGeom prst="line">
            <a:avLst/>
          </a:prstGeom>
          <a:ln w="34925">
            <a:solidFill>
              <a:srgbClr val="14305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/>
          <p:cNvSpPr txBox="1"/>
          <p:nvPr/>
        </p:nvSpPr>
        <p:spPr>
          <a:xfrm>
            <a:off x="3749039" y="6400800"/>
            <a:ext cx="1005840" cy="320040"/>
          </a:xfrm>
          <a:prstGeom prst="rect">
            <a:avLst/>
          </a:prstGeom>
          <a:noFill/>
        </p:spPr>
        <p:txBody>
          <a:bodyPr wrap="square" lIns="0" rIns="0" tIns="27432" bIns="27432" anchor="t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14305E"/>
                </a:solidFill>
                <a:latin typeface="Calibri"/>
              </a:rPr>
              <a:t>HTTPS+JWT</a:t>
            </a:r>
          </a:p>
        </p:txBody>
      </p:sp>
      <p:cxnSp>
        <p:nvCxnSpPr>
          <p:cNvPr id="66" name="Connector 65"/>
          <p:cNvCxnSpPr/>
          <p:nvPr/>
        </p:nvCxnSpPr>
        <p:spPr>
          <a:xfrm flipH="1">
            <a:off x="3794760" y="7909560"/>
            <a:ext cx="868680" cy="0"/>
          </a:xfrm>
          <a:prstGeom prst="line">
            <a:avLst/>
          </a:prstGeom>
          <a:ln w="34925">
            <a:solidFill>
              <a:srgbClr val="12A3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3749039" y="7946136"/>
            <a:ext cx="1005840" cy="320040"/>
          </a:xfrm>
          <a:prstGeom prst="rect">
            <a:avLst/>
          </a:prstGeom>
          <a:noFill/>
        </p:spPr>
        <p:txBody>
          <a:bodyPr wrap="square" lIns="0" rIns="0" tIns="27432" bIns="27432" anchor="t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0B6B4E"/>
                </a:solidFill>
                <a:latin typeface="Calibri"/>
              </a:rPr>
              <a:t>Realtime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794760" y="9006840"/>
            <a:ext cx="868680" cy="0"/>
          </a:xfrm>
          <a:prstGeom prst="line">
            <a:avLst/>
          </a:prstGeom>
          <a:ln w="34925">
            <a:solidFill>
              <a:srgbClr val="B779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749039" y="8659367"/>
            <a:ext cx="1005840" cy="320040"/>
          </a:xfrm>
          <a:prstGeom prst="rect">
            <a:avLst/>
          </a:prstGeom>
          <a:noFill/>
        </p:spPr>
        <p:txBody>
          <a:bodyPr wrap="square" lIns="0" rIns="0" tIns="27432" bIns="27432" anchor="t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8A6A00"/>
                </a:solidFill>
                <a:latin typeface="Calibri"/>
              </a:rPr>
              <a:t>aggregates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309360" y="9006840"/>
            <a:ext cx="182880" cy="0"/>
          </a:xfrm>
          <a:prstGeom prst="line">
            <a:avLst/>
          </a:prstGeom>
          <a:ln w="34925">
            <a:solidFill>
              <a:srgbClr val="B779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ounded Rectangle 70"/>
          <p:cNvSpPr/>
          <p:nvPr/>
        </p:nvSpPr>
        <p:spPr>
          <a:xfrm>
            <a:off x="8412480" y="4617720"/>
            <a:ext cx="4389120" cy="5029200"/>
          </a:xfrm>
          <a:prstGeom prst="roundRect">
            <a:avLst>
              <a:gd name="adj" fmla="val 2916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8412480" y="4617720"/>
            <a:ext cx="4389120" cy="530352"/>
          </a:xfrm>
          <a:prstGeom prst="roundRect">
            <a:avLst>
              <a:gd name="adj" fmla="val 24137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412480" y="4882896"/>
            <a:ext cx="4389120" cy="26517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577072" y="4617720"/>
            <a:ext cx="4059935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Implementation methodology</a:t>
            </a:r>
          </a:p>
        </p:txBody>
      </p:sp>
      <p:cxnSp>
        <p:nvCxnSpPr>
          <p:cNvPr id="75" name="Connector 74"/>
          <p:cNvCxnSpPr/>
          <p:nvPr/>
        </p:nvCxnSpPr>
        <p:spPr>
          <a:xfrm>
            <a:off x="8796528" y="5577840"/>
            <a:ext cx="0" cy="2880360"/>
          </a:xfrm>
          <a:prstGeom prst="line">
            <a:avLst/>
          </a:prstGeom>
          <a:ln w="38100">
            <a:solidFill>
              <a:srgbClr val="C9D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8595359" y="5404104"/>
            <a:ext cx="402336" cy="402336"/>
          </a:xfrm>
          <a:prstGeom prst="ellipse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98280" y="5303520"/>
            <a:ext cx="3611880" cy="6217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4305E"/>
                </a:solidFill>
                <a:latin typeface="Calibri"/>
              </a:rPr>
              <a:t>P0 · H0–2  </a:t>
            </a:r>
            <a:r>
              <a:rPr sz="1450" b="0" i="0">
                <a:solidFill>
                  <a:srgbClr val="1B1F2A"/>
                </a:solidFill>
                <a:latin typeface="Calibri"/>
              </a:rPr>
              <a:t>Contracts frozen, repo and schema</a:t>
            </a:r>
          </a:p>
        </p:txBody>
      </p:sp>
      <p:sp>
        <p:nvSpPr>
          <p:cNvPr id="78" name="Oval 77"/>
          <p:cNvSpPr/>
          <p:nvPr/>
        </p:nvSpPr>
        <p:spPr>
          <a:xfrm>
            <a:off x="8595359" y="5971032"/>
            <a:ext cx="402336" cy="402336"/>
          </a:xfrm>
          <a:prstGeom prst="ellipse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98280" y="5870448"/>
            <a:ext cx="3611880" cy="6217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4305E"/>
                </a:solidFill>
                <a:latin typeface="Calibri"/>
              </a:rPr>
              <a:t>P1 · H2–6  </a:t>
            </a:r>
            <a:r>
              <a:rPr sz="1450" b="0" i="0">
                <a:solidFill>
                  <a:srgbClr val="1B1F2A"/>
                </a:solidFill>
                <a:latin typeface="Calibri"/>
              </a:rPr>
              <a:t>Skeleton in 3 parallel tracks</a:t>
            </a:r>
          </a:p>
        </p:txBody>
      </p:sp>
      <p:sp>
        <p:nvSpPr>
          <p:cNvPr id="80" name="Oval 79"/>
          <p:cNvSpPr/>
          <p:nvPr/>
        </p:nvSpPr>
        <p:spPr>
          <a:xfrm>
            <a:off x="8595359" y="6537960"/>
            <a:ext cx="402336" cy="402336"/>
          </a:xfrm>
          <a:prstGeom prst="ellipse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98280" y="6437376"/>
            <a:ext cx="3611880" cy="6217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4305E"/>
                </a:solidFill>
                <a:latin typeface="Calibri"/>
              </a:rPr>
              <a:t>P2 · H6–11  </a:t>
            </a:r>
            <a:r>
              <a:rPr sz="1450" b="0" i="0">
                <a:solidFill>
                  <a:srgbClr val="1B1F2A"/>
                </a:solidFill>
                <a:latin typeface="Calibri"/>
              </a:rPr>
              <a:t>Agents, GST, ledger, UI features</a:t>
            </a:r>
          </a:p>
        </p:txBody>
      </p:sp>
      <p:sp>
        <p:nvSpPr>
          <p:cNvPr id="82" name="Oval 81"/>
          <p:cNvSpPr/>
          <p:nvPr/>
        </p:nvSpPr>
        <p:spPr>
          <a:xfrm>
            <a:off x="8595359" y="7104888"/>
            <a:ext cx="402336" cy="402336"/>
          </a:xfrm>
          <a:prstGeom prst="ellipse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98280" y="7004304"/>
            <a:ext cx="3611880" cy="6217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4305E"/>
                </a:solidFill>
                <a:latin typeface="Calibri"/>
              </a:rPr>
              <a:t>P3 · H11–15  </a:t>
            </a:r>
            <a:r>
              <a:rPr sz="1450" b="0" i="0">
                <a:solidFill>
                  <a:srgbClr val="1B1F2A"/>
                </a:solidFill>
                <a:latin typeface="Calibri"/>
              </a:rPr>
              <a:t>Integration, gamification polish</a:t>
            </a:r>
          </a:p>
        </p:txBody>
      </p:sp>
      <p:sp>
        <p:nvSpPr>
          <p:cNvPr id="84" name="Oval 83"/>
          <p:cNvSpPr/>
          <p:nvPr/>
        </p:nvSpPr>
        <p:spPr>
          <a:xfrm>
            <a:off x="8595359" y="7671815"/>
            <a:ext cx="402336" cy="402336"/>
          </a:xfrm>
          <a:prstGeom prst="ellipse">
            <a:avLst/>
          </a:prstGeom>
          <a:solidFill>
            <a:srgbClr val="143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98280" y="7571231"/>
            <a:ext cx="3611880" cy="6217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4305E"/>
                </a:solidFill>
                <a:latin typeface="Calibri"/>
              </a:rPr>
              <a:t>P4 · H18–20  </a:t>
            </a:r>
            <a:r>
              <a:rPr sz="1450" b="0" i="0">
                <a:solidFill>
                  <a:srgbClr val="1B1F2A"/>
                </a:solidFill>
                <a:latin typeface="Calibri"/>
              </a:rPr>
              <a:t>Hardening, deploy, self-checks</a:t>
            </a:r>
          </a:p>
        </p:txBody>
      </p:sp>
      <p:sp>
        <p:nvSpPr>
          <p:cNvPr id="86" name="Oval 85"/>
          <p:cNvSpPr/>
          <p:nvPr/>
        </p:nvSpPr>
        <p:spPr>
          <a:xfrm>
            <a:off x="8595359" y="8238744"/>
            <a:ext cx="402336" cy="402336"/>
          </a:xfrm>
          <a:prstGeom prst="ellipse">
            <a:avLst/>
          </a:prstGeom>
          <a:solidFill>
            <a:srgbClr val="12A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98280" y="8138160"/>
            <a:ext cx="3611880" cy="62179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14305E"/>
                </a:solidFill>
                <a:latin typeface="Calibri"/>
              </a:rPr>
              <a:t>P5 · H21–23  </a:t>
            </a:r>
            <a:r>
              <a:rPr sz="1450" b="0" i="0">
                <a:solidFill>
                  <a:srgbClr val="1B1F2A"/>
                </a:solidFill>
                <a:latin typeface="Calibri"/>
              </a:rPr>
              <a:t>Pitch, demo video, submit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549640" y="8823959"/>
            <a:ext cx="4114800" cy="731520"/>
          </a:xfrm>
          <a:prstGeom prst="roundRect">
            <a:avLst>
              <a:gd name="adj" fmla="val 12500"/>
            </a:avLst>
          </a:prstGeom>
          <a:solidFill>
            <a:srgbClr val="FFF6D6"/>
          </a:solidFill>
          <a:ln w="15875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4305E"/>
                </a:solidFill>
                <a:latin typeface="Calibri"/>
              </a:rPr>
              <a:t>3 tracks: Ram (engine · DB) · Sumit (UI) · Masoom (trust · content)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2938760" y="4617720"/>
            <a:ext cx="4937760" cy="5029200"/>
          </a:xfrm>
          <a:prstGeom prst="roundRect">
            <a:avLst>
              <a:gd name="adj" fmla="val 2592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2938760" y="4617720"/>
            <a:ext cx="4937760" cy="530352"/>
          </a:xfrm>
          <a:prstGeom prst="roundRect">
            <a:avLst>
              <a:gd name="adj" fmla="val 24137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2938760" y="4882896"/>
            <a:ext cx="4937760" cy="26517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3103352" y="4617720"/>
            <a:ext cx="4608576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Prototype / working model</a:t>
            </a:r>
          </a:p>
        </p:txBody>
      </p:sp>
      <p:pic>
        <p:nvPicPr>
          <p:cNvPr id="93" name="Picture 92" descr="dash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75920" y="5303520"/>
            <a:ext cx="4663440" cy="2788920"/>
          </a:xfrm>
          <a:prstGeom prst="rect">
            <a:avLst/>
          </a:prstGeom>
          <a:ln w="19050">
            <a:solidFill>
              <a:srgbClr val="C9D6EA"/>
            </a:solidFill>
          </a:ln>
        </p:spPr>
      </p:pic>
      <p:sp>
        <p:nvSpPr>
          <p:cNvPr id="94" name="TextBox 93"/>
          <p:cNvSpPr txBox="1"/>
          <p:nvPr/>
        </p:nvSpPr>
        <p:spPr>
          <a:xfrm>
            <a:off x="13030200" y="8183879"/>
            <a:ext cx="4800600" cy="1417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Working today: 11 pages, 3 roles, 6 SQL migrations</a:t>
            </a:r>
          </a:p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Self-check suite passes (GST, ledger, reports, bank import, simulation)</a:t>
            </a:r>
          </a:p>
          <a:p>
            <a:pPr algn="l" marL="182880" indent="-182880">
              <a:spcBef>
                <a:spcPts val="0"/>
              </a:spcBef>
              <a:spcAft>
                <a:spcPts val="300"/>
              </a:spcAft>
              <a:buFont typeface="Arial"/>
              <a:buChar char="•"/>
            </a:pPr>
            <a:r>
              <a:rPr sz="1450" b="0" i="0">
                <a:solidFill>
                  <a:srgbClr val="1B1F2A"/>
                </a:solidFill>
                <a:latin typeface="Calibri"/>
              </a:rPr>
              <a:t>Demo mode needs no keys; cloud mode uses Supabase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11480" y="9692640"/>
            <a:ext cx="17465040" cy="3657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5B6678"/>
                </a:solidFill>
                <a:latin typeface="Calibri"/>
              </a:rPr>
              <a:t>Refs: [8] Supabase docs (RLS, Auth, Realtime) · [9] Groq API docs. Screenshot: live prototype dashboard (demo data).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71525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2010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IMPACTS AN</a:t>
              </a:r>
              <a:r>
                <a:rPr lang="en-US" b="true" sz="5400">
                  <a:solidFill>
                    <a:srgbClr val="020101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D FUTURE SCOPE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408000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0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982" r="0" b="-120982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525257" y="-254881"/>
            <a:ext cx="4086595" cy="1850633"/>
            <a:chOff x="0" y="0"/>
            <a:chExt cx="5448793" cy="246751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462400" y="0"/>
              <a:ext cx="2370232" cy="2370232"/>
            </a:xfrm>
            <a:custGeom>
              <a:avLst/>
              <a:gdLst/>
              <a:ahLst/>
              <a:cxnLst/>
              <a:rect r="r" b="b" t="t" l="l"/>
              <a:pathLst>
                <a:path h="2370232" w="2370232">
                  <a:moveTo>
                    <a:pt x="0" y="0"/>
                  </a:moveTo>
                  <a:lnTo>
                    <a:pt x="2370232" y="0"/>
                  </a:lnTo>
                  <a:lnTo>
                    <a:pt x="2370232" y="2370232"/>
                  </a:lnTo>
                  <a:lnTo>
                    <a:pt x="0" y="2370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1979768"/>
              <a:ext cx="5448793" cy="4877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38"/>
                </a:lnSpc>
                <a:spcBef>
                  <a:spcPct val="0"/>
                </a:spcBef>
              </a:pPr>
              <a:r>
                <a:rPr lang="en-US" sz="2170" spc="108">
                  <a:solidFill>
                    <a:srgbClr val="4E3D0A"/>
                  </a:solidFill>
                  <a:latin typeface="Mokoto"/>
                  <a:ea typeface="Mokoto"/>
                  <a:cs typeface="Mokoto"/>
                  <a:sym typeface="Mokoto"/>
                </a:rPr>
                <a:t>ARROWDEV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4456508" y="49559"/>
            <a:ext cx="3831492" cy="1593504"/>
            <a:chOff x="0" y="0"/>
            <a:chExt cx="5108655" cy="212467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108694" cy="2124710"/>
            </a:xfrm>
            <a:custGeom>
              <a:avLst/>
              <a:gdLst/>
              <a:ahLst/>
              <a:cxnLst/>
              <a:rect r="r" b="b" t="t" l="l"/>
              <a:pathLst>
                <a:path h="2124710" w="5108694">
                  <a:moveTo>
                    <a:pt x="0" y="0"/>
                  </a:moveTo>
                  <a:lnTo>
                    <a:pt x="5108694" y="0"/>
                  </a:lnTo>
                  <a:lnTo>
                    <a:pt x="5108694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86" r="0" b="-586"/>
              </a:stretch>
            </a:blipFill>
          </p:spPr>
        </p:sp>
      </p:grpSp>
      <p:sp>
        <p:nvSpPr>
          <p:cNvPr id="13" name="Rounded Rectangle 12"/>
          <p:cNvSpPr/>
          <p:nvPr/>
        </p:nvSpPr>
        <p:spPr>
          <a:xfrm>
            <a:off x="411480" y="1828800"/>
            <a:ext cx="859536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1480" y="1828800"/>
            <a:ext cx="8595360" cy="530352"/>
          </a:xfrm>
          <a:prstGeom prst="roundRect">
            <a:avLst>
              <a:gd name="adj" fmla="val 24137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093976"/>
            <a:ext cx="8595360" cy="26517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1828800"/>
            <a:ext cx="8266176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Expected impact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502920" y="2450592"/>
          <a:ext cx="4663440" cy="29718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5303520" y="2487168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A219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30952" y="2487168"/>
            <a:ext cx="73152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487168"/>
            <a:ext cx="278892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SDG 8 · Decent work &amp; growth: protects payroll and cash so small firms keep jobs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03520" y="3474720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F36D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30952" y="3474720"/>
            <a:ext cx="73152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35040" y="3474720"/>
            <a:ext cx="278892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SDG 9 · Industry &amp; innovation: affordable digital finance rails for MSMEs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0" y="4462272"/>
            <a:ext cx="3566160" cy="914400"/>
          </a:xfrm>
          <a:prstGeom prst="roundRect">
            <a:avLst>
              <a:gd name="adj" fmla="val 10000"/>
            </a:avLst>
          </a:prstGeom>
          <a:solidFill>
            <a:srgbClr val="00689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30952" y="4462272"/>
            <a:ext cx="73152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16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5040" y="4462272"/>
            <a:ext cx="278892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SDG 16 · Strong institutions: audit trail, fraud defence, transparency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0" y="1828800"/>
            <a:ext cx="8732520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144000" y="1828800"/>
            <a:ext cx="8732520" cy="530352"/>
          </a:xfrm>
          <a:prstGeom prst="roundRect">
            <a:avLst>
              <a:gd name="adj" fmla="val 24137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0" y="2093976"/>
            <a:ext cx="8732520" cy="26517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08592" y="1828800"/>
            <a:ext cx="8403336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Benefits to users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81160" y="2487168"/>
            <a:ext cx="4206240" cy="1435608"/>
          </a:xfrm>
          <a:prstGeom prst="roundRect">
            <a:avLst>
              <a:gd name="adj" fmla="val 6369"/>
            </a:avLst>
          </a:prstGeom>
          <a:solidFill>
            <a:srgbClr val="EEF3FA"/>
          </a:solidFill>
          <a:ln w="1270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281160" y="2487168"/>
            <a:ext cx="4206240" cy="420624"/>
          </a:xfrm>
          <a:prstGeom prst="roundRect">
            <a:avLst>
              <a:gd name="adj" fmla="val 21739"/>
            </a:avLst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81160" y="2697479"/>
            <a:ext cx="4206240" cy="210312"/>
          </a:xfrm>
          <a:prstGeom prst="rect">
            <a:avLst/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54312" y="2487168"/>
            <a:ext cx="402336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Business owner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2944368"/>
            <a:ext cx="4114800" cy="9784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400" b="0" i="0">
                <a:solidFill>
                  <a:srgbClr val="1B1F2A"/>
                </a:solidFill>
                <a:latin typeface="Calibri"/>
              </a:rPr>
              <a:t>One daily view of cash, dues and risks</a:t>
            </a:r>
          </a:p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400" b="0" i="0">
                <a:solidFill>
                  <a:srgbClr val="1B1F2A"/>
                </a:solidFill>
                <a:latin typeface="Calibri"/>
              </a:rPr>
              <a:t>Less chasing, fewer penalties</a:t>
            </a:r>
          </a:p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400" b="0" i="0">
                <a:solidFill>
                  <a:srgbClr val="1B1F2A"/>
                </a:solidFill>
                <a:latin typeface="Calibri"/>
              </a:rPr>
              <a:t>Streak and goal ring make bookkeeping a habit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3578840" y="2487168"/>
            <a:ext cx="4206240" cy="1435608"/>
          </a:xfrm>
          <a:prstGeom prst="roundRect">
            <a:avLst>
              <a:gd name="adj" fmla="val 6369"/>
            </a:avLst>
          </a:prstGeom>
          <a:solidFill>
            <a:srgbClr val="EEF3FA"/>
          </a:solidFill>
          <a:ln w="1270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3578840" y="2487168"/>
            <a:ext cx="4206240" cy="420624"/>
          </a:xfrm>
          <a:prstGeom prst="roundRect">
            <a:avLst>
              <a:gd name="adj" fmla="val 21739"/>
            </a:avLst>
          </a:prstGeom>
          <a:solidFill>
            <a:srgbClr val="12A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3578840" y="2697479"/>
            <a:ext cx="4206240" cy="210312"/>
          </a:xfrm>
          <a:prstGeom prst="rect">
            <a:avLst/>
          </a:prstGeom>
          <a:solidFill>
            <a:srgbClr val="12A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651992" y="2487168"/>
            <a:ext cx="402336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Finance team / CA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624560" y="2944368"/>
            <a:ext cx="4114800" cy="9784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400" b="0" i="0">
                <a:solidFill>
                  <a:srgbClr val="1B1F2A"/>
                </a:solidFill>
                <a:latin typeface="Calibri"/>
              </a:rPr>
              <a:t>Clean registers and GST split, CSV export</a:t>
            </a:r>
          </a:p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400" b="0" i="0">
                <a:solidFill>
                  <a:srgbClr val="1B1F2A"/>
                </a:solidFill>
                <a:latin typeface="Calibri"/>
              </a:rPr>
              <a:t>Approvals and audit trail ready to review</a:t>
            </a:r>
          </a:p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400" b="0" i="0">
                <a:solidFill>
                  <a:srgbClr val="1B1F2A"/>
                </a:solidFill>
                <a:latin typeface="Calibri"/>
              </a:rPr>
              <a:t>Bank CSV reconcile cuts manual matching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81160" y="3995927"/>
            <a:ext cx="4206240" cy="1435608"/>
          </a:xfrm>
          <a:prstGeom prst="roundRect">
            <a:avLst>
              <a:gd name="adj" fmla="val 6369"/>
            </a:avLst>
          </a:prstGeom>
          <a:solidFill>
            <a:srgbClr val="EEF3FA"/>
          </a:solidFill>
          <a:ln w="1270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281160" y="3995927"/>
            <a:ext cx="4206240" cy="420624"/>
          </a:xfrm>
          <a:prstGeom prst="roundRect">
            <a:avLst>
              <a:gd name="adj" fmla="val 21739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81160" y="4206240"/>
            <a:ext cx="4206240" cy="210312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54312" y="3995927"/>
            <a:ext cx="402336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Employees &amp; team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0" y="4453127"/>
            <a:ext cx="4114800" cy="9784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400" b="0" i="0">
                <a:solidFill>
                  <a:srgbClr val="1B1F2A"/>
                </a:solidFill>
                <a:latin typeface="Calibri"/>
              </a:rPr>
              <a:t>Payroll never missed; clear approvals</a:t>
            </a:r>
          </a:p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400" b="0" i="0">
                <a:solidFill>
                  <a:srgbClr val="1B1F2A"/>
                </a:solidFill>
                <a:latin typeface="Calibri"/>
              </a:rPr>
              <a:t>XP and leaderboard build good habits</a:t>
            </a:r>
          </a:p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400" b="0" i="0">
                <a:solidFill>
                  <a:srgbClr val="1B1F2A"/>
                </a:solidFill>
                <a:latin typeface="Calibri"/>
              </a:rPr>
              <a:t>Role-based access: see only what you need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578840" y="3995927"/>
            <a:ext cx="4206240" cy="1435608"/>
          </a:xfrm>
          <a:prstGeom prst="roundRect">
            <a:avLst>
              <a:gd name="adj" fmla="val 6369"/>
            </a:avLst>
          </a:prstGeom>
          <a:solidFill>
            <a:srgbClr val="EEF3FA"/>
          </a:solidFill>
          <a:ln w="1270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3578840" y="3995927"/>
            <a:ext cx="4206240" cy="420624"/>
          </a:xfrm>
          <a:prstGeom prst="roundRect">
            <a:avLst>
              <a:gd name="adj" fmla="val 21739"/>
            </a:avLst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3578840" y="4206240"/>
            <a:ext cx="4206240" cy="21031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3651992" y="3995927"/>
            <a:ext cx="4023360" cy="420624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50" b="1" i="0">
                <a:solidFill>
                  <a:srgbClr val="FFFFFF"/>
                </a:solidFill>
                <a:latin typeface="Calibri"/>
              </a:rPr>
              <a:t>Customers &amp; lenders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624560" y="4453127"/>
            <a:ext cx="4114800" cy="978408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400" b="0" i="0">
                <a:solidFill>
                  <a:srgbClr val="1B1F2A"/>
                </a:solidFill>
                <a:latin typeface="Calibri"/>
              </a:rPr>
              <a:t>Timely, documented invoices and reminders</a:t>
            </a:r>
          </a:p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400" b="0" i="0">
                <a:solidFill>
                  <a:srgbClr val="1B1F2A"/>
                </a:solidFill>
                <a:latin typeface="Calibri"/>
              </a:rPr>
              <a:t>Verifiable records support credit decisions</a:t>
            </a:r>
          </a:p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400" b="0" i="0">
                <a:solidFill>
                  <a:srgbClr val="1B1F2A"/>
                </a:solidFill>
                <a:latin typeface="Calibri"/>
              </a:rPr>
              <a:t>WhatsApp-ready payment reminders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11480" y="5623560"/>
            <a:ext cx="859536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11480" y="5623560"/>
            <a:ext cx="8595360" cy="530352"/>
          </a:xfrm>
          <a:prstGeom prst="roundRect">
            <a:avLst>
              <a:gd name="adj" fmla="val 24137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11480" y="5888736"/>
            <a:ext cx="8595360" cy="26517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" y="5623560"/>
            <a:ext cx="8266176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Scalability / feasibility</a:t>
            </a:r>
          </a:p>
        </p:txBody>
      </p:sp>
      <p:graphicFrame>
        <p:nvGraphicFramePr>
          <p:cNvPr id="55" name="Chart 54"/>
          <p:cNvGraphicFramePr>
            <a:graphicFrameLocks noGrp="1"/>
          </p:cNvGraphicFramePr>
          <p:nvPr/>
        </p:nvGraphicFramePr>
        <p:xfrm>
          <a:off x="502920" y="6227064"/>
          <a:ext cx="3474720" cy="1920240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56" name="TextBox 55"/>
          <p:cNvSpPr txBox="1"/>
          <p:nvPr/>
        </p:nvSpPr>
        <p:spPr>
          <a:xfrm>
            <a:off x="4069080" y="6245352"/>
            <a:ext cx="4846320" cy="19202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182880" indent="-18288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B1F2A"/>
                </a:solidFill>
                <a:latin typeface="Calibri"/>
              </a:rPr>
              <a:t>Static PWA on a CDN plus managed Postgres: scales per tenant (org_id + RLS)</a:t>
            </a:r>
          </a:p>
          <a:p>
            <a:pPr algn="l" marL="182880" indent="-18288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B1F2A"/>
                </a:solidFill>
                <a:latin typeface="Calibri"/>
              </a:rPr>
              <a:t>Multi-tenant by design: one workspace per company, invite codes, domain lock</a:t>
            </a:r>
          </a:p>
          <a:p>
            <a:pPr algn="l" marL="182880" indent="-182880">
              <a:spcBef>
                <a:spcPts val="0"/>
              </a:spcBef>
              <a:spcAft>
                <a:spcPts val="400"/>
              </a:spcAft>
              <a:buFont typeface="Arial"/>
              <a:buChar char="•"/>
            </a:pPr>
            <a:r>
              <a:rPr sz="1400" b="0" i="0">
                <a:solidFill>
                  <a:srgbClr val="1B1F2A"/>
                </a:solidFill>
                <a:latin typeface="Calibri"/>
              </a:rPr>
              <a:t>Runs end to end on 6 versioned migrations; free tiers cover a pilot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44000" y="5623560"/>
            <a:ext cx="8732520" cy="25603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9144000" y="5623560"/>
            <a:ext cx="8732520" cy="530352"/>
          </a:xfrm>
          <a:prstGeom prst="roundRect">
            <a:avLst>
              <a:gd name="adj" fmla="val 24137"/>
            </a:avLst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144000" y="5888736"/>
            <a:ext cx="8732520" cy="265176"/>
          </a:xfrm>
          <a:prstGeom prst="rect">
            <a:avLst/>
          </a:prstGeom>
          <a:solidFill>
            <a:srgbClr val="1F4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308592" y="5623560"/>
            <a:ext cx="8403336" cy="530352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FFFFFF"/>
                </a:solidFill>
                <a:latin typeface="Calibri"/>
              </a:rPr>
              <a:t>Future enhancements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281160" y="6263640"/>
            <a:ext cx="2788920" cy="1810512"/>
          </a:xfrm>
          <a:prstGeom prst="roundRect">
            <a:avLst>
              <a:gd name="adj" fmla="val 5050"/>
            </a:avLst>
          </a:prstGeom>
          <a:solidFill>
            <a:srgbClr val="EEF3FA"/>
          </a:solidFill>
          <a:ln w="1270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281160" y="6263640"/>
            <a:ext cx="2788920" cy="420624"/>
          </a:xfrm>
          <a:prstGeom prst="roundRect">
            <a:avLst>
              <a:gd name="adj" fmla="val 21739"/>
            </a:avLst>
          </a:prstGeom>
          <a:solidFill>
            <a:srgbClr val="2F6F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Next · 0–3 months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317736" y="6720840"/>
            <a:ext cx="2715768" cy="1371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350" b="0" i="0">
                <a:solidFill>
                  <a:srgbClr val="1B1F2A"/>
                </a:solidFill>
                <a:latin typeface="Calibri"/>
              </a:rPr>
              <a:t>Server-side XP (anti-cheat)</a:t>
            </a:r>
          </a:p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350" b="0" i="0">
                <a:solidFill>
                  <a:srgbClr val="1B1F2A"/>
                </a:solidFill>
                <a:latin typeface="Calibri"/>
              </a:rPr>
              <a:t>WhatsApp / email sending</a:t>
            </a:r>
          </a:p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350" b="0" i="0">
                <a:solidFill>
                  <a:srgbClr val="1B1F2A"/>
                </a:solidFill>
                <a:latin typeface="Calibri"/>
              </a:rPr>
              <a:t>Bank-statement templates</a:t>
            </a:r>
          </a:p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350" b="0" i="0">
                <a:solidFill>
                  <a:srgbClr val="1B1F2A"/>
                </a:solidFill>
                <a:latin typeface="Calibri"/>
              </a:rPr>
              <a:t>Offline sync for the PWA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12143232" y="6263640"/>
            <a:ext cx="2788920" cy="1810512"/>
          </a:xfrm>
          <a:prstGeom prst="roundRect">
            <a:avLst>
              <a:gd name="adj" fmla="val 5050"/>
            </a:avLst>
          </a:prstGeom>
          <a:solidFill>
            <a:srgbClr val="EEF3FA"/>
          </a:solidFill>
          <a:ln w="1270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2143232" y="6263640"/>
            <a:ext cx="2788920" cy="420624"/>
          </a:xfrm>
          <a:prstGeom prst="roundRect">
            <a:avLst>
              <a:gd name="adj" fmla="val 21739"/>
            </a:avLst>
          </a:prstGeom>
          <a:solidFill>
            <a:srgbClr val="12A3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Later · 3–9 months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79808" y="6720840"/>
            <a:ext cx="2715768" cy="1371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350" b="0" i="0">
                <a:solidFill>
                  <a:srgbClr val="1B1F2A"/>
                </a:solidFill>
                <a:latin typeface="Calibri"/>
              </a:rPr>
              <a:t>Account Aggregator bank feed</a:t>
            </a:r>
          </a:p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350" b="0" i="0">
                <a:solidFill>
                  <a:srgbClr val="1B1F2A"/>
                </a:solidFill>
                <a:latin typeface="Calibri"/>
              </a:rPr>
              <a:t>E-invoice (IRN) and e-way bill</a:t>
            </a:r>
          </a:p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350" b="0" i="0">
                <a:solidFill>
                  <a:srgbClr val="1B1F2A"/>
                </a:solidFill>
                <a:latin typeface="Calibri"/>
              </a:rPr>
              <a:t>TDS, PF and ESI filings</a:t>
            </a:r>
          </a:p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350" b="0" i="0">
                <a:solidFill>
                  <a:srgbClr val="1B1F2A"/>
                </a:solidFill>
                <a:latin typeface="Calibri"/>
              </a:rPr>
              <a:t>Multi-GSTIN, multi-branch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5005304" y="6263640"/>
            <a:ext cx="2788920" cy="1810512"/>
          </a:xfrm>
          <a:prstGeom prst="roundRect">
            <a:avLst>
              <a:gd name="adj" fmla="val 5050"/>
            </a:avLst>
          </a:prstGeom>
          <a:solidFill>
            <a:srgbClr val="EEF3FA"/>
          </a:solidFill>
          <a:ln w="12700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5005304" y="6263640"/>
            <a:ext cx="2788920" cy="420624"/>
          </a:xfrm>
          <a:prstGeom prst="roundRect">
            <a:avLst>
              <a:gd name="adj" fmla="val 21739"/>
            </a:avLst>
          </a:prstGeom>
          <a:solidFill>
            <a:srgbClr val="1430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Vision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5041880" y="6720840"/>
            <a:ext cx="2715768" cy="13716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350" b="0" i="0">
                <a:solidFill>
                  <a:srgbClr val="1B1F2A"/>
                </a:solidFill>
                <a:latin typeface="Calibri"/>
              </a:rPr>
              <a:t>ML late-payment prediction</a:t>
            </a:r>
          </a:p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350" b="0" i="0">
                <a:solidFill>
                  <a:srgbClr val="1B1F2A"/>
                </a:solidFill>
                <a:latin typeface="Calibri"/>
              </a:rPr>
              <a:t>Accountant portal, regional languages</a:t>
            </a:r>
          </a:p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350" b="0" i="0">
                <a:solidFill>
                  <a:srgbClr val="1B1F2A"/>
                </a:solidFill>
                <a:latin typeface="Calibri"/>
              </a:rPr>
              <a:t>On-chain anchor of ledger hash</a:t>
            </a:r>
          </a:p>
          <a:p>
            <a:pPr algn="l" marL="182880" indent="-182880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sz="1350" b="0" i="0">
                <a:solidFill>
                  <a:srgbClr val="1B1F2A"/>
                </a:solidFill>
                <a:latin typeface="Calibri"/>
              </a:rPr>
              <a:t>Open API for ERP tools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11480" y="8275320"/>
            <a:ext cx="17465040" cy="1737360"/>
          </a:xfrm>
          <a:prstGeom prst="roundRect">
            <a:avLst>
              <a:gd name="adj" fmla="val 5263"/>
            </a:avLst>
          </a:prstGeom>
          <a:solidFill>
            <a:srgbClr val="F7F9FD"/>
          </a:solidFill>
          <a:ln w="15875">
            <a:solidFill>
              <a:srgbClr val="C9D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02920" y="8302752"/>
            <a:ext cx="1371600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1" i="0">
                <a:solidFill>
                  <a:srgbClr val="1F4E8C"/>
                </a:solidFill>
                <a:latin typeface="Calibri"/>
              </a:rPr>
              <a:t>References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02920" y="8549640"/>
            <a:ext cx="5760720" cy="1508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1B1F2A"/>
                </a:solidFill>
                <a:latin typeface="Calibri"/>
              </a:rPr>
              <a:t>[1] Ministry of MSME, Annual Report 2025-26: 7.61 cr registered MSMEs (31 Jan 2026). msme.gov.in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1B1F2A"/>
                </a:solidFill>
                <a:latin typeface="Calibri"/>
              </a:rPr>
              <a:t>[2] PIB, Udyami Diwas – MSME Day 2025: ~30% of GDP, &gt;45% of exports. pib.gov.in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1B1F2A"/>
                </a:solidFill>
                <a:latin typeface="Calibri"/>
              </a:rPr>
              <a:t>[3] PIB, Eight Years of GST: 1.51 cr registrations; ₹22.08 lakh cr gross GST, FY25. pib.gov.in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1B1F2A"/>
                </a:solidFill>
                <a:latin typeface="Calibri"/>
              </a:rPr>
              <a:t>[4] RBI Annual Report 2024-25: bank frauds ₹36,014 cr, 23,953 cases (via Business Standard)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09359" y="8549640"/>
            <a:ext cx="5760720" cy="1508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1B1F2A"/>
                </a:solidFill>
                <a:latin typeface="Calibri"/>
              </a:rPr>
              <a:t>[5] JPMorgan Chase Institute, "Cash Is King" (2016): median buffer 27 days; 25% hold ≤13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1B1F2A"/>
                </a:solidFill>
                <a:latin typeface="Calibri"/>
              </a:rPr>
              <a:t>[6] Income-tax Act s.43B(h), 45-day MSME payments from 1 Apr 2024; MSME Samadhaan, Apr 2024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1B1F2A"/>
                </a:solidFill>
                <a:latin typeface="Calibri"/>
              </a:rPr>
              <a:t>[7] Hamari, Koivisto &amp; Sarsa (2014), "Does Gamification Work?", HICSS-47, doi:10.1109/HICSS.2014.377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1B1F2A"/>
                </a:solidFill>
                <a:latin typeface="Calibri"/>
              </a:rPr>
              <a:t>[8] Supabase docs: Row Level Security, Auth, Realtime. supabase.com/docs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2115800" y="8549640"/>
            <a:ext cx="5760720" cy="1508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1B1F2A"/>
                </a:solidFill>
                <a:latin typeface="Calibri"/>
              </a:rPr>
              <a:t>[9] Groq API docs: OpenAI-compatible chat completions. console.groq.com/docs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1B1F2A"/>
                </a:solidFill>
                <a:latin typeface="Calibri"/>
              </a:rPr>
              <a:t>[10] GST portal: GSTR-1 (11th) and GSTR-3B (20th) due dates. gst.gov.in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1B1F2A"/>
                </a:solidFill>
                <a:latin typeface="Calibri"/>
              </a:rPr>
              <a:t>[11] IFC estimate of India's MSME credit gap (₹20–25 lakh cr), as cited in industry reports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50" b="0" i="0">
                <a:solidFill>
                  <a:srgbClr val="1B1F2A"/>
                </a:solidFill>
                <a:latin typeface="Calibri"/>
              </a:rPr>
              <a:t>[12] UN Sustainable Development Goals 8, 9, 16. sdgs.un.org/goals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DAHXWuvTPLs</dc:identifier>
  <dcterms:modified xsi:type="dcterms:W3CDTF">2011-08-01T06:04:30Z</dcterms:modified>
  <cp:revision>1</cp:revision>
  <dc:title>GAME-A-THON PPT TEMPLATE</dc:title>
</cp:coreProperties>
</file>